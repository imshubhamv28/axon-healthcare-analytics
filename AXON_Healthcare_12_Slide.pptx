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792" y="363719"/>
            <a:ext cx="3372465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900" b="1" i="1" dirty="0">
                <a:solidFill>
                  <a:srgbClr val="D2E1E8"/>
                </a:solidFill>
                <a:latin typeface="Aptos"/>
              </a:rPr>
              <a:t>AI Variant </a:t>
            </a:r>
            <a:r>
              <a:rPr lang="en-IN" sz="900" dirty="0">
                <a:solidFill>
                  <a:srgbClr val="FFFFFF"/>
                </a:solidFill>
                <a:latin typeface="Aptos"/>
              </a:rPr>
              <a:t>• EXCELR</a:t>
            </a:r>
            <a:r>
              <a:rPr lang="en-IN" sz="900" b="1" i="1" dirty="0">
                <a:solidFill>
                  <a:srgbClr val="D2E1E8"/>
                </a:solidFill>
                <a:latin typeface="Aptos"/>
              </a:rPr>
              <a:t>  </a:t>
            </a:r>
            <a:endParaRPr sz="900" b="1" i="1" dirty="0">
              <a:solidFill>
                <a:srgbClr val="D2E1E8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791" y="5376672"/>
            <a:ext cx="3372465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IN" sz="1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ptos"/>
              </a:rPr>
              <a:t>Presented By: Group:6</a:t>
            </a:r>
            <a:endParaRPr sz="1400" b="1" dirty="0">
              <a:solidFill>
                <a:schemeClr val="accent6">
                  <a:lumMod val="60000"/>
                  <a:lumOff val="40000"/>
                </a:schemeClr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1792" y="5650992"/>
            <a:ext cx="1069848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IN" sz="1600" b="0" dirty="0">
                <a:solidFill>
                  <a:srgbClr val="FFFFFF"/>
                </a:solidFill>
                <a:latin typeface="Aptos"/>
              </a:rPr>
              <a:t>ANANYA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  •  </a:t>
            </a:r>
            <a:r>
              <a:rPr lang="en-IN" sz="1600" b="0" dirty="0">
                <a:solidFill>
                  <a:srgbClr val="FFFFFF"/>
                </a:solidFill>
                <a:latin typeface="Aptos"/>
              </a:rPr>
              <a:t>SHUBHAM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  •  </a:t>
            </a:r>
            <a:r>
              <a:rPr lang="en-IN" sz="1600" b="0" dirty="0">
                <a:solidFill>
                  <a:srgbClr val="FFFFFF"/>
                </a:solidFill>
                <a:latin typeface="Aptos"/>
              </a:rPr>
              <a:t>SURAJ</a:t>
            </a:r>
            <a:r>
              <a:rPr sz="1600" b="0" dirty="0">
                <a:solidFill>
                  <a:srgbClr val="FFFFFF"/>
                </a:solidFill>
                <a:latin typeface="Aptos"/>
              </a:rPr>
              <a:t>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6403352"/>
            <a:ext cx="10607040" cy="1828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50" b="0" dirty="0">
                <a:solidFill>
                  <a:srgbClr val="A5BAC6"/>
                </a:solidFill>
                <a:latin typeface="Aptos"/>
              </a:rPr>
              <a:t>Healthcare EMR Analytics • Business Presentation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87470" y="502920"/>
            <a:ext cx="530352" cy="164592"/>
          </a:xfrm>
          <a:prstGeom prst="rect">
            <a:avLst/>
          </a:prstGeom>
          <a:solidFill>
            <a:srgbClr val="008989"/>
          </a:solidFill>
          <a:ln>
            <a:solidFill>
              <a:srgbClr val="008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00702" y="502920"/>
            <a:ext cx="530352" cy="164592"/>
          </a:xfrm>
          <a:prstGeom prst="rect">
            <a:avLst/>
          </a:prstGeom>
          <a:solidFill>
            <a:srgbClr val="0066AA"/>
          </a:solidFill>
          <a:ln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513934" y="502920"/>
            <a:ext cx="530352" cy="164592"/>
          </a:xfrm>
          <a:prstGeom prst="rect">
            <a:avLst/>
          </a:prstGeom>
          <a:solidFill>
            <a:srgbClr val="52A63C"/>
          </a:solidFill>
          <a:ln>
            <a:solidFill>
              <a:srgbClr val="52A6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1227166" y="502920"/>
            <a:ext cx="530352" cy="164592"/>
          </a:xfrm>
          <a:prstGeom prst="rect">
            <a:avLst/>
          </a:prstGeom>
          <a:solidFill>
            <a:srgbClr val="E0AB00"/>
          </a:solidFill>
          <a:ln>
            <a:solidFill>
              <a:srgbClr val="E0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 1">
            <a:extLst>
              <a:ext uri="{FF2B5EF4-FFF2-40B4-BE49-F238E27FC236}">
                <a16:creationId xmlns:a16="http://schemas.microsoft.com/office/drawing/2014/main" id="{93CD3BB0-5715-94EE-BF89-910970364200}"/>
              </a:ext>
            </a:extLst>
          </p:cNvPr>
          <p:cNvSpPr/>
          <p:nvPr/>
        </p:nvSpPr>
        <p:spPr>
          <a:xfrm>
            <a:off x="621792" y="809244"/>
            <a:ext cx="77815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Axon Healthcare Analytics Project</a:t>
            </a:r>
            <a:endParaRPr lang="en-US" sz="44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FEAF94BC-9D06-9659-3257-E9A2746DFCE5}"/>
              </a:ext>
            </a:extLst>
          </p:cNvPr>
          <p:cNvSpPr/>
          <p:nvPr/>
        </p:nvSpPr>
        <p:spPr>
          <a:xfrm>
            <a:off x="640080" y="3280832"/>
            <a:ext cx="27432" cy="3108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5951F9C4-CB92-58B2-06CC-89219B944368}"/>
              </a:ext>
            </a:extLst>
          </p:cNvPr>
          <p:cNvSpPr/>
          <p:nvPr/>
        </p:nvSpPr>
        <p:spPr>
          <a:xfrm>
            <a:off x="841248" y="32259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</a:t>
            </a:r>
            <a:endParaRPr lang="en-US" sz="95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E6808A0B-D7E9-1C13-8AEE-3700E1AAA194}"/>
              </a:ext>
            </a:extLst>
          </p:cNvPr>
          <p:cNvSpPr/>
          <p:nvPr/>
        </p:nvSpPr>
        <p:spPr>
          <a:xfrm>
            <a:off x="841248" y="34088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Healthcare/</a:t>
            </a:r>
            <a:r>
              <a:rPr lang="en-IN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Hospital Operations</a:t>
            </a:r>
            <a:endParaRPr lang="en-US" sz="1300" dirty="0"/>
          </a:p>
        </p:txBody>
      </p:sp>
      <p:sp>
        <p:nvSpPr>
          <p:cNvPr id="41" name="Text 7">
            <a:extLst>
              <a:ext uri="{FF2B5EF4-FFF2-40B4-BE49-F238E27FC236}">
                <a16:creationId xmlns:a16="http://schemas.microsoft.com/office/drawing/2014/main" id="{D1388765-783C-6C21-AB69-D3F207687022}"/>
              </a:ext>
            </a:extLst>
          </p:cNvPr>
          <p:cNvSpPr/>
          <p:nvPr/>
        </p:nvSpPr>
        <p:spPr>
          <a:xfrm>
            <a:off x="841248" y="373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TYPE</a:t>
            </a:r>
            <a:endParaRPr lang="en-US" sz="950" dirty="0"/>
          </a:p>
        </p:txBody>
      </p:sp>
      <p:sp>
        <p:nvSpPr>
          <p:cNvPr id="43" name="Text 8">
            <a:extLst>
              <a:ext uri="{FF2B5EF4-FFF2-40B4-BE49-F238E27FC236}">
                <a16:creationId xmlns:a16="http://schemas.microsoft.com/office/drawing/2014/main" id="{95E4212B-62F6-0E89-D36E-504F5207257A}"/>
              </a:ext>
            </a:extLst>
          </p:cNvPr>
          <p:cNvSpPr/>
          <p:nvPr/>
        </p:nvSpPr>
        <p:spPr>
          <a:xfrm>
            <a:off x="841248" y="392091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&amp; Business Intelligence</a:t>
            </a:r>
            <a:endParaRPr lang="en-US" sz="1300" dirty="0"/>
          </a:p>
        </p:txBody>
      </p:sp>
      <p:sp>
        <p:nvSpPr>
          <p:cNvPr id="45" name="Shape 9">
            <a:extLst>
              <a:ext uri="{FF2B5EF4-FFF2-40B4-BE49-F238E27FC236}">
                <a16:creationId xmlns:a16="http://schemas.microsoft.com/office/drawing/2014/main" id="{E08DF66E-6FF4-5270-791A-97D3A73C19AF}"/>
              </a:ext>
            </a:extLst>
          </p:cNvPr>
          <p:cNvSpPr/>
          <p:nvPr/>
        </p:nvSpPr>
        <p:spPr>
          <a:xfrm>
            <a:off x="640080" y="4304960"/>
            <a:ext cx="27432" cy="3108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292A8CD2-9FAE-567B-30D6-339E25DA6A80}"/>
              </a:ext>
            </a:extLst>
          </p:cNvPr>
          <p:cNvSpPr/>
          <p:nvPr/>
        </p:nvSpPr>
        <p:spPr>
          <a:xfrm>
            <a:off x="841248" y="4250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50" dirty="0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82A10246-BADD-30D5-FA22-473495F32574}"/>
              </a:ext>
            </a:extLst>
          </p:cNvPr>
          <p:cNvSpPr/>
          <p:nvPr/>
        </p:nvSpPr>
        <p:spPr>
          <a:xfrm>
            <a:off x="841248" y="443297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3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94A894D-F227-AE20-33D4-30164CF89734}"/>
              </a:ext>
            </a:extLst>
          </p:cNvPr>
          <p:cNvSpPr/>
          <p:nvPr/>
        </p:nvSpPr>
        <p:spPr>
          <a:xfrm>
            <a:off x="640080" y="4817024"/>
            <a:ext cx="27432" cy="3108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53" name="Text 13">
            <a:extLst>
              <a:ext uri="{FF2B5EF4-FFF2-40B4-BE49-F238E27FC236}">
                <a16:creationId xmlns:a16="http://schemas.microsoft.com/office/drawing/2014/main" id="{9F2BAE71-5160-D2B2-0A6B-078BB76C5F4A}"/>
              </a:ext>
            </a:extLst>
          </p:cNvPr>
          <p:cNvSpPr/>
          <p:nvPr/>
        </p:nvSpPr>
        <p:spPr>
          <a:xfrm>
            <a:off x="841248" y="47621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55" name="Text 14">
            <a:extLst>
              <a:ext uri="{FF2B5EF4-FFF2-40B4-BE49-F238E27FC236}">
                <a16:creationId xmlns:a16="http://schemas.microsoft.com/office/drawing/2014/main" id="{BDAE4B5A-B09F-D20B-B9C0-6A0CA93B83EF}"/>
              </a:ext>
            </a:extLst>
          </p:cNvPr>
          <p:cNvSpPr/>
          <p:nvPr/>
        </p:nvSpPr>
        <p:spPr>
          <a:xfrm>
            <a:off x="841248" y="49450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|  Excel  |  Tableau  |  Power BI</a:t>
            </a:r>
            <a:endParaRPr lang="en-US" sz="1300" dirty="0"/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6562D037-38E5-C3E4-E636-D6DAC272CDF9}"/>
              </a:ext>
            </a:extLst>
          </p:cNvPr>
          <p:cNvSpPr/>
          <p:nvPr/>
        </p:nvSpPr>
        <p:spPr>
          <a:xfrm>
            <a:off x="640080" y="2569464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r>
              <a:rPr lang="en-US" sz="125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healthcare data into actionable insights for operational, financial and management decision-making.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59" name="Shape 16">
            <a:extLst>
              <a:ext uri="{FF2B5EF4-FFF2-40B4-BE49-F238E27FC236}">
                <a16:creationId xmlns:a16="http://schemas.microsoft.com/office/drawing/2014/main" id="{2D5ED43D-1D65-BEAE-B848-E51105047F4C}"/>
              </a:ext>
            </a:extLst>
          </p:cNvPr>
          <p:cNvSpPr/>
          <p:nvPr/>
        </p:nvSpPr>
        <p:spPr>
          <a:xfrm flipV="1">
            <a:off x="640080" y="5274956"/>
            <a:ext cx="9061704" cy="28645"/>
          </a:xfrm>
          <a:prstGeom prst="line">
            <a:avLst/>
          </a:prstGeom>
          <a:noFill/>
          <a:ln w="9525">
            <a:solidFill>
              <a:schemeClr val="bg1"/>
            </a:solidFill>
            <a:prstDash val="solid"/>
          </a:ln>
        </p:spPr>
      </p:sp>
      <p:sp>
        <p:nvSpPr>
          <p:cNvPr id="61" name="Shape 9">
            <a:extLst>
              <a:ext uri="{FF2B5EF4-FFF2-40B4-BE49-F238E27FC236}">
                <a16:creationId xmlns:a16="http://schemas.microsoft.com/office/drawing/2014/main" id="{68258EAD-2DF6-DB46-DB71-B92F4DAEE61F}"/>
              </a:ext>
            </a:extLst>
          </p:cNvPr>
          <p:cNvSpPr/>
          <p:nvPr/>
        </p:nvSpPr>
        <p:spPr>
          <a:xfrm>
            <a:off x="642096" y="3779180"/>
            <a:ext cx="27432" cy="31089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BFCACF3E-6B64-B784-AE00-5E2A7F9D339E}"/>
              </a:ext>
            </a:extLst>
          </p:cNvPr>
          <p:cNvSpPr/>
          <p:nvPr/>
        </p:nvSpPr>
        <p:spPr>
          <a:xfrm flipV="1">
            <a:off x="635166" y="6204100"/>
            <a:ext cx="9061704" cy="28645"/>
          </a:xfrm>
          <a:prstGeom prst="line">
            <a:avLst/>
          </a:prstGeom>
          <a:noFill/>
          <a:ln w="9525">
            <a:solidFill>
              <a:schemeClr val="bg1"/>
            </a:solidFill>
            <a:prstDash val="solid"/>
          </a:ln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C500CC-B5B3-CE94-28EB-BBEE14B94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1408" y="930009"/>
            <a:ext cx="2045051" cy="9895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08989"/>
                </a:solidFill>
                <a:latin typeface="Aptos"/>
              </a:rPr>
              <a:t>02  |  BUSINESS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66AA"/>
                </a:solidFill>
                <a:latin typeface="Aptos"/>
              </a:rPr>
              <a:t>What business problem are we solving?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Turn fragmented EMR activity into consistent, decision-ready views for leadership, clinical teams and finance.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40664" y="196596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40664" y="1967092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5681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 dirty="0">
                <a:solidFill>
                  <a:srgbClr val="0066AA"/>
                </a:solidFill>
                <a:latin typeface="Aptos"/>
              </a:rPr>
              <a:t>PATIENT CARE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59152"/>
            <a:ext cx="31089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Understand demographics, chronic conditions, follow-up intensity and treatment outcomes.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535424" y="196596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535424" y="1957260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95681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AA"/>
                </a:solidFill>
                <a:latin typeface="Aptos"/>
              </a:rPr>
              <a:t>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59152"/>
            <a:ext cx="31089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Monitor visits, cancellations, completion, provider workload and department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82880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8330184" y="196596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8330184" y="1957260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195681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AA"/>
                </a:solidFill>
                <a:latin typeface="Aptos"/>
              </a:rPr>
              <a:t>TREATMENT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359152"/>
            <a:ext cx="31089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Compare treatment mix, cost and outcomes to support service-level performance monitoring.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9476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740664" y="393192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740664" y="3923220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92277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AA"/>
                </a:solidFill>
                <a:latin typeface="Aptos"/>
              </a:rPr>
              <a:t>DIAGNOSTICS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325112"/>
            <a:ext cx="31089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Track lab volume, abnormal results and pending workload.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89120" y="379476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7" name="Rounded Rectangle 26"/>
          <p:cNvSpPr/>
          <p:nvPr/>
        </p:nvSpPr>
        <p:spPr>
          <a:xfrm>
            <a:off x="4535424" y="393192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4535424" y="3913388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392277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AA"/>
                </a:solidFill>
                <a:latin typeface="Aptos"/>
              </a:rPr>
              <a:t>REVENUE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25112"/>
            <a:ext cx="31089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Measure billed revenue, insurance coverage, patient payments and outstanding balances.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3794760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2" name="Rounded Rectangle 31"/>
          <p:cNvSpPr/>
          <p:nvPr/>
        </p:nvSpPr>
        <p:spPr>
          <a:xfrm>
            <a:off x="8330184" y="3931920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8330184" y="3913388"/>
            <a:ext cx="4114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008989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922776"/>
            <a:ext cx="256032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66AA"/>
                </a:solidFill>
                <a:latin typeface="Aptos"/>
              </a:rPr>
              <a:t>INSURANCE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8" y="4325112"/>
            <a:ext cx="310896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42F39"/>
                </a:solidFill>
                <a:latin typeface="Aptos"/>
              </a:rPr>
              <a:t>Monitor claim status, approval patterns and payer-level performance.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5925312"/>
            <a:ext cx="108813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AB00"/>
                </a:solidFill>
                <a:latin typeface="Aptos"/>
              </a:rPr>
              <a:t>Decision principle: one metric definition → one backend logic → multiple BI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37392" y="6510528"/>
            <a:ext cx="50292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6877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89"/>
                </a:solidFill>
                <a:latin typeface="Aptos"/>
              </a:rPr>
              <a:t>03  |  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0066AA"/>
                </a:solidFill>
                <a:latin typeface="Aptos"/>
              </a:rPr>
              <a:t>Data </a:t>
            </a:r>
            <a:r>
              <a:rPr lang="en-IN" sz="3200" b="1" dirty="0">
                <a:solidFill>
                  <a:srgbClr val="0066AA"/>
                </a:solidFill>
                <a:latin typeface="Aptos"/>
              </a:rPr>
              <a:t>Overview</a:t>
            </a:r>
            <a:r>
              <a:rPr sz="3200" b="1" dirty="0">
                <a:solidFill>
                  <a:srgbClr val="0066AA"/>
                </a:solidFill>
                <a:latin typeface="Aptos"/>
              </a:rPr>
              <a:t> </a:t>
            </a:r>
            <a:r>
              <a:rPr lang="en-IN" sz="3200" b="1" dirty="0">
                <a:solidFill>
                  <a:srgbClr val="0066AA"/>
                </a:solidFill>
                <a:latin typeface="Aptos"/>
              </a:rPr>
              <a:t>&amp;</a:t>
            </a:r>
            <a:r>
              <a:rPr sz="3200" b="1" dirty="0">
                <a:solidFill>
                  <a:srgbClr val="0066AA"/>
                </a:solidFill>
                <a:latin typeface="Aptos"/>
              </a:rPr>
              <a:t> SQL </a:t>
            </a:r>
            <a:r>
              <a:rPr lang="en-IN" sz="3200" b="1" dirty="0">
                <a:solidFill>
                  <a:srgbClr val="0066AA"/>
                </a:solidFill>
                <a:latin typeface="Aptos"/>
              </a:rPr>
              <a:t>D</a:t>
            </a:r>
            <a:r>
              <a:rPr sz="3200" b="1" dirty="0" err="1">
                <a:solidFill>
                  <a:srgbClr val="0066AA"/>
                </a:solidFill>
                <a:latin typeface="Aptos"/>
              </a:rPr>
              <a:t>ata</a:t>
            </a:r>
            <a:r>
              <a:rPr lang="en-IN" sz="3200" b="1" dirty="0">
                <a:solidFill>
                  <a:srgbClr val="0066AA"/>
                </a:solidFill>
                <a:latin typeface="Aptos"/>
              </a:rPr>
              <a:t>b</a:t>
            </a:r>
            <a:r>
              <a:rPr sz="3200" b="1" dirty="0">
                <a:solidFill>
                  <a:srgbClr val="0066AA"/>
                </a:solidFill>
                <a:latin typeface="Aptos"/>
              </a:rPr>
              <a:t>as</a:t>
            </a:r>
            <a:r>
              <a:rPr lang="en-IN" sz="3200" b="1" dirty="0">
                <a:solidFill>
                  <a:srgbClr val="0066AA"/>
                </a:solidFill>
                <a:latin typeface="Aptos"/>
              </a:rPr>
              <a:t>e Structure </a:t>
            </a:r>
            <a:endParaRPr sz="3200" b="1" dirty="0">
              <a:solidFill>
                <a:srgbClr val="0066AA"/>
              </a:solidFill>
              <a:latin typeface="Apto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218612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6" name="Rounded Rectangle 5"/>
          <p:cNvSpPr/>
          <p:nvPr/>
        </p:nvSpPr>
        <p:spPr>
          <a:xfrm>
            <a:off x="108155" y="1528521"/>
            <a:ext cx="7208129" cy="4956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739976" y="1850040"/>
            <a:ext cx="630936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8989"/>
                </a:solidFill>
                <a:latin typeface="Aptos"/>
              </a:rPr>
              <a:t>CORE DATA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31720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2331720"/>
            <a:ext cx="10972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AA"/>
                </a:solidFill>
                <a:latin typeface="Aptos"/>
              </a:rPr>
              <a:t>Patient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56048" y="2331720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Patient demographics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752344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825496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825496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825496"/>
            <a:ext cx="10972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066AA"/>
                </a:solidFill>
                <a:latin typeface="Aptos"/>
              </a:rPr>
              <a:t>Doctor 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825496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Provider / specialty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49808" y="3246120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49808" y="3319272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Department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319272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319272"/>
            <a:ext cx="109728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066AA"/>
                </a:solidFill>
                <a:latin typeface="Aptos"/>
              </a:rPr>
              <a:t>Department 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6048" y="3319272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Department master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739896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3813048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Visit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813048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813048"/>
            <a:ext cx="10972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AA"/>
                </a:solidFill>
                <a:latin typeface="Aptos"/>
              </a:rPr>
              <a:t>Visit 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3813048"/>
            <a:ext cx="1874519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Central encounter fact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4233672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8" y="4306824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Treatment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306824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10,000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306824"/>
            <a:ext cx="109728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066AA"/>
                </a:solidFill>
                <a:latin typeface="Aptos"/>
              </a:rPr>
              <a:t>Treatment ID / Visit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56048" y="4306824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Treatment + outcome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4727448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4800600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Lab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800600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10,000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3320" y="4800600"/>
            <a:ext cx="109728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66AA"/>
                </a:solidFill>
                <a:latin typeface="Aptos"/>
              </a:rPr>
              <a:t>Lab Result ID / Visit 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56048" y="4800600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Diagnostic results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49808" y="5221224"/>
            <a:ext cx="6217920" cy="0"/>
          </a:xfrm>
          <a:prstGeom prst="line">
            <a:avLst/>
          </a:prstGeom>
          <a:ln w="7620">
            <a:noFil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49808" y="5294376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66AA"/>
                </a:solidFill>
                <a:latin typeface="Aptos"/>
              </a:rPr>
              <a:t>Billing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294376"/>
            <a:ext cx="82296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66AA"/>
                </a:solidFill>
                <a:latin typeface="Aptos"/>
              </a:rPr>
              <a:t>10,000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03320" y="5294376"/>
            <a:ext cx="109728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0066AA"/>
                </a:solidFill>
                <a:latin typeface="Aptos"/>
              </a:rPr>
              <a:t>Bill ID / Visit 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5294376"/>
            <a:ext cx="1874519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87784"/>
                </a:solidFill>
                <a:latin typeface="Aptos"/>
              </a:rPr>
              <a:t>Revenue-cycle data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68329" y="6648176"/>
            <a:ext cx="5029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687784"/>
                </a:solidFill>
                <a:latin typeface="Aptos"/>
              </a:rPr>
              <a:t>3</a:t>
            </a:r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7FA50CB6-D811-235A-A1C9-87111D305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959" y="1316295"/>
            <a:ext cx="3680201" cy="5213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989"/>
                </a:solidFill>
                <a:latin typeface="Aptos"/>
              </a:rPr>
              <a:t>04  | 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066AA"/>
                </a:solidFill>
                <a:latin typeface="Aptos"/>
              </a:rPr>
              <a:t>From raw EMR data to business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87784"/>
                </a:solidFill>
                <a:latin typeface="Aptos"/>
              </a:rPr>
              <a:t>The same business dataset moves through preparation, backend logic, BI presentation and QA.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1388852" y="6592824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1" dirty="0">
                <a:solidFill>
                  <a:srgbClr val="687784"/>
                </a:solidFill>
                <a:latin typeface="Aptos"/>
              </a:rPr>
              <a:t>4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36A42AC-E887-B4D3-9990-3D9D2225B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1" y="2123768"/>
            <a:ext cx="12002238" cy="40007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008989"/>
                </a:solidFill>
                <a:latin typeface="Aptos"/>
              </a:rPr>
              <a:t>05  |  DATA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0066AA"/>
                </a:solidFill>
                <a:latin typeface="Aptos"/>
              </a:rPr>
              <a:t>One analytical model, three working environments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31799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24389" y="4218041"/>
            <a:ext cx="3316046" cy="1838627"/>
          </a:xfrm>
          <a:prstGeom prst="roundRect">
            <a:avLst>
              <a:gd name="adj" fmla="val 464"/>
            </a:avLst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7" name="Rectangle 6"/>
          <p:cNvSpPr/>
          <p:nvPr/>
        </p:nvSpPr>
        <p:spPr>
          <a:xfrm>
            <a:off x="8624389" y="4208210"/>
            <a:ext cx="3316046" cy="60448"/>
          </a:xfrm>
          <a:prstGeom prst="rect">
            <a:avLst/>
          </a:prstGeom>
          <a:solidFill>
            <a:srgbClr val="008989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8" name="TextBox 7"/>
          <p:cNvSpPr txBox="1"/>
          <p:nvPr/>
        </p:nvSpPr>
        <p:spPr>
          <a:xfrm>
            <a:off x="8759926" y="4288557"/>
            <a:ext cx="280723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8989"/>
                </a:solidFill>
                <a:latin typeface="Aptos"/>
              </a:rPr>
              <a:t>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26" y="5713913"/>
            <a:ext cx="2807234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0066AA"/>
                </a:solidFill>
                <a:latin typeface="Aptos"/>
              </a:rPr>
              <a:t>Preparation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50492" y="4631875"/>
            <a:ext cx="2807234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Use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Excel Tables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for structured source data.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Use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Power Pivot / Data Model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to connect multiple tables.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Define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relationships using common keys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Use the model for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PivotTables, KPIs and reporting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457" y="6501829"/>
            <a:ext cx="1079863" cy="159889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/>
          </a:p>
        </p:txBody>
      </p:sp>
      <p:sp>
        <p:nvSpPr>
          <p:cNvPr id="13" name="Rounded Rectangle 12"/>
          <p:cNvSpPr/>
          <p:nvPr/>
        </p:nvSpPr>
        <p:spPr>
          <a:xfrm>
            <a:off x="8614051" y="2300754"/>
            <a:ext cx="3316046" cy="183862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4" name="Rectangle 13"/>
          <p:cNvSpPr/>
          <p:nvPr/>
        </p:nvSpPr>
        <p:spPr>
          <a:xfrm>
            <a:off x="8614051" y="2300755"/>
            <a:ext cx="3316046" cy="60448"/>
          </a:xfrm>
          <a:prstGeom prst="rect">
            <a:avLst/>
          </a:prstGeom>
          <a:solidFill>
            <a:srgbClr val="0066A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15" name="TextBox 14"/>
          <p:cNvSpPr txBox="1"/>
          <p:nvPr/>
        </p:nvSpPr>
        <p:spPr>
          <a:xfrm>
            <a:off x="8650492" y="2377460"/>
            <a:ext cx="280723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0066AA"/>
                </a:solidFill>
                <a:latin typeface="Aptos"/>
              </a:rPr>
              <a:t>TABLEAU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26" y="3885710"/>
            <a:ext cx="2807234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0066AA"/>
                </a:solidFill>
                <a:latin typeface="Aptos"/>
              </a:rPr>
              <a:t>Relationship / visual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550" y="2753051"/>
            <a:ext cx="2807234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Use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Relationships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to connect related tables.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Use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Joins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when row-level combination is required.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Maintain appropriate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dimensions and measures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for analysis.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Build the model to support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interactive dashboards and drill-down analysis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13550" y="395852"/>
            <a:ext cx="3316046" cy="183862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1" name="Rectangle 20"/>
          <p:cNvSpPr/>
          <p:nvPr/>
        </p:nvSpPr>
        <p:spPr>
          <a:xfrm>
            <a:off x="8613550" y="386021"/>
            <a:ext cx="3316046" cy="604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100"/>
          </a:p>
        </p:txBody>
      </p:sp>
      <p:sp>
        <p:nvSpPr>
          <p:cNvPr id="22" name="TextBox 21"/>
          <p:cNvSpPr txBox="1"/>
          <p:nvPr/>
        </p:nvSpPr>
        <p:spPr>
          <a:xfrm>
            <a:off x="8650492" y="465073"/>
            <a:ext cx="280723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1" dirty="0">
                <a:solidFill>
                  <a:srgbClr val="E0AB00"/>
                </a:solidFill>
                <a:latin typeface="Aptos"/>
              </a:rPr>
              <a:t>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492" y="1983465"/>
            <a:ext cx="2807234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00" b="1" dirty="0">
                <a:solidFill>
                  <a:srgbClr val="0066AA"/>
                </a:solidFill>
                <a:latin typeface="Aptos"/>
              </a:rPr>
              <a:t>Semantic / DAX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550" y="904997"/>
            <a:ext cx="2807234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Prefer a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Star Schema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for analytics.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Separate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Fact Tables and Dimension Tables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Create relationships using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primary/foreign keys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Build </a:t>
            </a:r>
            <a:r>
              <a:rPr lang="en-IN" sz="1000" b="1" dirty="0">
                <a:solidFill>
                  <a:schemeClr val="accent1">
                    <a:lumMod val="75000"/>
                  </a:schemeClr>
                </a:solidFill>
              </a:rPr>
              <a:t>DAX measures</a:t>
            </a:r>
            <a:r>
              <a:rPr lang="en-IN" sz="1000" dirty="0">
                <a:solidFill>
                  <a:schemeClr val="accent1">
                    <a:lumMod val="75000"/>
                  </a:schemeClr>
                </a:solidFill>
              </a:rPr>
              <a:t> on top of the model for KPIs.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5226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50" b="1" dirty="0">
                <a:solidFill>
                  <a:srgbClr val="0066AA"/>
                </a:solidFill>
                <a:latin typeface="Aptos"/>
              </a:rPr>
              <a:t>Modeling rule: Visit = central encounter fact; Treatment, Lab Test and Billing attach through Visit ID.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57134" y="6510528"/>
            <a:ext cx="383177" cy="10772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0" b="1">
                <a:solidFill>
                  <a:srgbClr val="687784"/>
                </a:solidFill>
                <a:latin typeface="Aptos"/>
              </a:rPr>
              <a:t>5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F55AF921-C61B-D4E5-5D17-F404AA081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63" y="1200367"/>
            <a:ext cx="7640116" cy="4953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008989"/>
                </a:solidFill>
                <a:latin typeface="Aptos"/>
              </a:rPr>
              <a:t>06  |  KPI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47368"/>
            <a:ext cx="11064240" cy="5303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500" b="1" dirty="0">
                <a:solidFill>
                  <a:srgbClr val="0066AA"/>
                </a:solidFill>
                <a:latin typeface="Aptos"/>
              </a:rPr>
              <a:t>Important KPIs + SQL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87784"/>
                </a:solidFill>
                <a:latin typeface="Aptos"/>
              </a:rPr>
              <a:t>Numbers below are calculated from the actual uploaded dataset. SQL snippets follow the supplied query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719072"/>
            <a:ext cx="6812280" cy="4526280"/>
          </a:xfrm>
          <a:prstGeom prst="roundRect">
            <a:avLst>
              <a:gd name="adj" fmla="val 2765"/>
            </a:avLst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64008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989"/>
                </a:solidFill>
                <a:latin typeface="Aptos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901952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989"/>
                </a:solidFill>
                <a:latin typeface="Aptos"/>
              </a:rPr>
              <a:t>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190195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989"/>
                </a:solidFill>
                <a:latin typeface="Aptos"/>
              </a:rPr>
              <a:t>SQL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157984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 dirty="0">
                <a:solidFill>
                  <a:srgbClr val="0066AA"/>
                </a:solidFill>
                <a:latin typeface="Aptos"/>
              </a:rPr>
              <a:t>Total Patients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21284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21284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 dirty="0">
                <a:solidFill>
                  <a:srgbClr val="687784"/>
                </a:solidFill>
                <a:latin typeface="Aptos"/>
              </a:rPr>
              <a:t>COUNT(</a:t>
            </a:r>
            <a:r>
              <a:rPr sz="710" b="0" dirty="0" err="1">
                <a:solidFill>
                  <a:srgbClr val="687784"/>
                </a:solidFill>
                <a:latin typeface="Aptos"/>
              </a:rPr>
              <a:t>patient_id</a:t>
            </a:r>
            <a:r>
              <a:rPr sz="710" b="0" dirty="0">
                <a:solidFill>
                  <a:srgbClr val="687784"/>
                </a:solidFill>
                <a:latin typeface="Aptos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87168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0066AA"/>
                </a:solidFill>
                <a:latin typeface="Aptos"/>
              </a:rPr>
              <a:t>Total Doctors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87168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1,000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487168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COUNT(doctor_id)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270662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276148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0066AA"/>
                </a:solidFill>
                <a:latin typeface="Aptos"/>
              </a:rPr>
              <a:t>Total Visits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76148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10,000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276148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COUNT(visit_id)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3580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Average Patient 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303580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en-IN" sz="780" b="1" dirty="0">
                <a:solidFill>
                  <a:srgbClr val="008989"/>
                </a:solidFill>
                <a:latin typeface="Aptos"/>
              </a:rPr>
              <a:t>48.94</a:t>
            </a:r>
            <a:endParaRPr sz="780" b="1" dirty="0">
              <a:solidFill>
                <a:srgbClr val="008989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160520" y="303580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AVG(age)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325526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31012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Visit Completion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331012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32.66%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331012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Completed / total visits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58444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Treatment Success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58444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33.01%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58444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Successful / treatment rows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380390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385876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Follow-Up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385876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49.84%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385876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Yes / visit rows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13308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0066AA"/>
                </a:solidFill>
                <a:latin typeface="Aptos"/>
              </a:rPr>
              <a:t>Average Treatment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13308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$2,540.59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413308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AVG(total_episode_cost)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" y="435254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440740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0">
                <a:solidFill>
                  <a:srgbClr val="0066AA"/>
                </a:solidFill>
                <a:latin typeface="Aptos"/>
              </a:rPr>
              <a:t>Total Lab Tests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440740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10,000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60520" y="440740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COUNT(lab_result_id)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68172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Abnormal Lab Rate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17520" y="468172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33.54%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60520" y="468172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Abnormal / lab rows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490118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495604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Total Revenue Billed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17520" y="495604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$25.41M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95604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SUM(amount_billed)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23036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Outstanding Balance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17520" y="523036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$7.06M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523036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SUM(outstanding)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" y="5449823"/>
            <a:ext cx="6565392" cy="283464"/>
          </a:xfrm>
          <a:prstGeom prst="rect">
            <a:avLst/>
          </a:prstGeom>
          <a:solidFill>
            <a:srgbClr val="FAFCFD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85800" y="550468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Insurance Coverage Rate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17520" y="550468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57.02%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60520" y="5504687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10" b="0">
                <a:solidFill>
                  <a:srgbClr val="687784"/>
                </a:solidFill>
                <a:latin typeface="Aptos"/>
              </a:rPr>
              <a:t>Insurance covered / billed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5779007"/>
            <a:ext cx="2212848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60" b="1">
                <a:solidFill>
                  <a:srgbClr val="0066AA"/>
                </a:solidFill>
                <a:latin typeface="Aptos"/>
              </a:rPr>
              <a:t>Claim Approval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17520" y="5779007"/>
            <a:ext cx="9601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008989"/>
                </a:solidFill>
                <a:latin typeface="Aptos"/>
              </a:rPr>
              <a:t>60.75%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60520" y="5740759"/>
            <a:ext cx="2604074" cy="52937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710" dirty="0">
                <a:solidFill>
                  <a:srgbClr val="687784"/>
                </a:solidFill>
                <a:latin typeface="Aptos"/>
              </a:rPr>
              <a:t>SELECT ROUND(SUM(CASE WHEN </a:t>
            </a:r>
            <a:r>
              <a:rPr lang="en-IN" sz="710" dirty="0" err="1">
                <a:solidFill>
                  <a:srgbClr val="687784"/>
                </a:solidFill>
                <a:latin typeface="Aptos"/>
              </a:rPr>
              <a:t>claim_status</a:t>
            </a:r>
            <a:r>
              <a:rPr lang="en-IN" sz="710" dirty="0">
                <a:solidFill>
                  <a:srgbClr val="687784"/>
                </a:solidFill>
                <a:latin typeface="Aptos"/>
              </a:rPr>
              <a:t> = 'Approved' THEN 1 ELSE 0 END)* 100.0 / COUNT(*), 2</a:t>
            </a:r>
          </a:p>
          <a:p>
            <a:r>
              <a:rPr lang="en-IN" sz="710" dirty="0">
                <a:solidFill>
                  <a:srgbClr val="687784"/>
                </a:solidFill>
                <a:latin typeface="Aptos"/>
              </a:rPr>
              <a:t>) AS </a:t>
            </a:r>
            <a:r>
              <a:rPr lang="en-IN" sz="710" dirty="0" err="1">
                <a:solidFill>
                  <a:srgbClr val="687784"/>
                </a:solidFill>
                <a:latin typeface="Aptos"/>
              </a:rPr>
              <a:t>Claim_Approval_Rate</a:t>
            </a:r>
            <a:endParaRPr lang="en-IN" sz="710" dirty="0">
              <a:solidFill>
                <a:srgbClr val="687784"/>
              </a:solidFill>
              <a:latin typeface="Aptos"/>
            </a:endParaRPr>
          </a:p>
          <a:p>
            <a:r>
              <a:rPr lang="en-IN" sz="710" dirty="0">
                <a:solidFill>
                  <a:srgbClr val="687784"/>
                </a:solidFill>
                <a:latin typeface="Aptos"/>
              </a:rPr>
              <a:t>FROM </a:t>
            </a:r>
            <a:r>
              <a:rPr lang="en-IN" sz="710" dirty="0" err="1">
                <a:solidFill>
                  <a:srgbClr val="687784"/>
                </a:solidFill>
                <a:latin typeface="Aptos"/>
              </a:rPr>
              <a:t>ins_claims</a:t>
            </a:r>
            <a:r>
              <a:rPr lang="en-IN" sz="710" dirty="0">
                <a:solidFill>
                  <a:srgbClr val="687784"/>
                </a:solidFill>
                <a:latin typeface="Aptos"/>
              </a:rPr>
              <a:t>;</a:t>
            </a:r>
            <a:endParaRPr sz="710" b="0" dirty="0">
              <a:solidFill>
                <a:srgbClr val="687784"/>
              </a:solidFill>
              <a:latin typeface="Aptos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7543800" y="1719072"/>
            <a:ext cx="4069080" cy="1298448"/>
          </a:xfrm>
          <a:prstGeom prst="roundRect">
            <a:avLst/>
          </a:prstGeom>
          <a:solidFill>
            <a:srgbClr val="0D1B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708392" y="1828800"/>
            <a:ext cx="3739896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 dirty="0">
                <a:solidFill>
                  <a:srgbClr val="9FCCCC"/>
                </a:solidFill>
                <a:latin typeface="Aptos"/>
              </a:rPr>
              <a:t>COMPLETION RATE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08392" y="2025503"/>
            <a:ext cx="3739896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SELECT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ROUND(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SUM(CASE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    WHEN </a:t>
            </a:r>
            <a:r>
              <a:rPr lang="en-IN" sz="6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visit_status</a:t>
            </a:r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= 'Completed' THEN 1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    ELSE 0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END) * 100.0 / COUNT(*),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2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) AS </a:t>
            </a:r>
            <a:r>
              <a:rPr lang="en-IN" sz="6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Completion_Rate</a:t>
            </a:r>
            <a:endParaRPr lang="en-IN" sz="600" b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FROM visit;</a:t>
            </a:r>
            <a:endParaRPr sz="6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7543800" y="3182112"/>
            <a:ext cx="4069080" cy="1298448"/>
          </a:xfrm>
          <a:prstGeom prst="roundRect">
            <a:avLst/>
          </a:prstGeom>
          <a:solidFill>
            <a:srgbClr val="0D1B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708392" y="3291840"/>
            <a:ext cx="3739896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 dirty="0">
                <a:solidFill>
                  <a:srgbClr val="9FCCCC"/>
                </a:solidFill>
                <a:latin typeface="Aptos"/>
              </a:rPr>
              <a:t>TREATMENT SUCCESS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08392" y="3506831"/>
            <a:ext cx="3739896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SELECT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ROUND(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SUM(CASE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    WHEN outcome = 'Successful' THEN 1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    ELSE 0 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END) * 100.0 / COUNT(*),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    2</a:t>
            </a: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    ) AS </a:t>
            </a:r>
            <a:r>
              <a:rPr lang="en-IN" sz="600" b="1" dirty="0" err="1">
                <a:solidFill>
                  <a:schemeClr val="bg1"/>
                </a:solidFill>
                <a:latin typeface="Candara" panose="020E0502030303020204" pitchFamily="34" charset="0"/>
              </a:rPr>
              <a:t>Treatment_Success_Rate</a:t>
            </a:r>
            <a:endParaRPr lang="en-IN" sz="600" b="1" dirty="0">
              <a:solidFill>
                <a:schemeClr val="bg1"/>
              </a:solidFill>
              <a:latin typeface="Candara" panose="020E0502030303020204" pitchFamily="34" charset="0"/>
            </a:endParaRPr>
          </a:p>
          <a:p>
            <a:r>
              <a:rPr lang="en-IN" sz="600" b="1" dirty="0">
                <a:solidFill>
                  <a:schemeClr val="bg1"/>
                </a:solidFill>
                <a:latin typeface="Candara" panose="020E0502030303020204" pitchFamily="34" charset="0"/>
              </a:rPr>
              <a:t>FROM treatment;</a:t>
            </a:r>
            <a:endParaRPr sz="6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7543800" y="4645152"/>
            <a:ext cx="4069080" cy="1298448"/>
          </a:xfrm>
          <a:prstGeom prst="roundRect">
            <a:avLst/>
          </a:prstGeom>
          <a:solidFill>
            <a:srgbClr val="0D1B27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08392" y="4754880"/>
            <a:ext cx="3739896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700" b="1" dirty="0">
                <a:solidFill>
                  <a:srgbClr val="9FCCCC"/>
                </a:solidFill>
                <a:latin typeface="Aptos"/>
              </a:rPr>
              <a:t>INSURANCE APPROVAL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708392" y="5029200"/>
            <a:ext cx="3739896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SELECT 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ROUND(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    SUM(CASE 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        WHEN </a:t>
            </a:r>
            <a:r>
              <a:rPr lang="en-IN" sz="600" dirty="0" err="1">
                <a:solidFill>
                  <a:srgbClr val="FFFFFF"/>
                </a:solidFill>
                <a:latin typeface="Candara" panose="020E0502030303020204" pitchFamily="34" charset="0"/>
              </a:rPr>
              <a:t>claim_status</a:t>
            </a:r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= 'Approved' THEN 1 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        ELSE 0 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    END) * 100.0 / COUNT(*),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    2</a:t>
            </a: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    ) AS </a:t>
            </a:r>
            <a:r>
              <a:rPr lang="en-IN" sz="600" dirty="0" err="1">
                <a:solidFill>
                  <a:srgbClr val="FFFFFF"/>
                </a:solidFill>
                <a:latin typeface="Candara" panose="020E0502030303020204" pitchFamily="34" charset="0"/>
              </a:rPr>
              <a:t>Insurance_Approval_Rate</a:t>
            </a:r>
            <a:endParaRPr lang="en-IN" sz="600" dirty="0">
              <a:solidFill>
                <a:srgbClr val="FFFFFF"/>
              </a:solidFill>
              <a:latin typeface="Candara" panose="020E0502030303020204" pitchFamily="34" charset="0"/>
            </a:endParaRPr>
          </a:p>
          <a:p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FROM </a:t>
            </a:r>
            <a:r>
              <a:rPr lang="en-IN" sz="600" dirty="0" err="1">
                <a:solidFill>
                  <a:srgbClr val="FFFFFF"/>
                </a:solidFill>
                <a:latin typeface="Candara" panose="020E0502030303020204" pitchFamily="34" charset="0"/>
              </a:rPr>
              <a:t>ins_claims</a:t>
            </a:r>
            <a:r>
              <a:rPr lang="en-IN" sz="600" dirty="0">
                <a:solidFill>
                  <a:srgbClr val="FFFFFF"/>
                </a:solidFill>
                <a:latin typeface="Candara" panose="020E0502030303020204" pitchFamily="34" charset="0"/>
              </a:rPr>
              <a:t>;</a:t>
            </a:r>
            <a:endParaRPr sz="600" b="0" dirty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02920" y="6547104"/>
            <a:ext cx="10515600" cy="14630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680" b="0">
                <a:solidFill>
                  <a:srgbClr val="687784"/>
                </a:solidFill>
                <a:latin typeface="Aptos"/>
              </a:rPr>
              <a:t>Source: supplied SQL query file + actual EMR dataset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137392" y="6510528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877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>
            <a:extLst>
              <a:ext uri="{FF2B5EF4-FFF2-40B4-BE49-F238E27FC236}">
                <a16:creationId xmlns:a16="http://schemas.microsoft.com/office/drawing/2014/main" id="{00823BFE-41DB-A6E0-E258-68E2518B26CC}"/>
              </a:ext>
            </a:extLst>
          </p:cNvPr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Executive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</a:rPr>
              <a:t>Healthcare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 Performance Dashboard</a:t>
            </a:r>
            <a:endParaRPr lang="en-US" sz="2800" dirty="0">
              <a:solidFill>
                <a:schemeClr val="tx2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C7148C59-992A-FE0C-9563-203D61FD3CA0}"/>
              </a:ext>
            </a:extLst>
          </p:cNvPr>
          <p:cNvSpPr/>
          <p:nvPr/>
        </p:nvSpPr>
        <p:spPr>
          <a:xfrm>
            <a:off x="8485632" y="14630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View</a:t>
            </a:r>
            <a:endParaRPr lang="en-US" sz="1550" dirty="0"/>
          </a:p>
        </p:txBody>
      </p:sp>
      <p:sp>
        <p:nvSpPr>
          <p:cNvPr id="49" name="Shape 6">
            <a:extLst>
              <a:ext uri="{FF2B5EF4-FFF2-40B4-BE49-F238E27FC236}">
                <a16:creationId xmlns:a16="http://schemas.microsoft.com/office/drawing/2014/main" id="{0CC0A0AD-FD2C-D6F2-062E-45DF2363682A}"/>
              </a:ext>
            </a:extLst>
          </p:cNvPr>
          <p:cNvSpPr/>
          <p:nvPr/>
        </p:nvSpPr>
        <p:spPr>
          <a:xfrm>
            <a:off x="8485632" y="1920240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7ECFD913-1B57-B8F0-F387-B04AF0E71037}"/>
              </a:ext>
            </a:extLst>
          </p:cNvPr>
          <p:cNvSpPr/>
          <p:nvPr/>
        </p:nvSpPr>
        <p:spPr>
          <a:xfrm>
            <a:off x="8650224" y="201168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53" name="Text 8">
            <a:extLst>
              <a:ext uri="{FF2B5EF4-FFF2-40B4-BE49-F238E27FC236}">
                <a16:creationId xmlns:a16="http://schemas.microsoft.com/office/drawing/2014/main" id="{C96FC083-DCE1-8152-4D6D-75F145E24919}"/>
              </a:ext>
            </a:extLst>
          </p:cNvPr>
          <p:cNvSpPr/>
          <p:nvPr/>
        </p:nvSpPr>
        <p:spPr>
          <a:xfrm>
            <a:off x="8650224" y="226771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10K patients and 10K visits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indicate a significant healthcare service volume. </a:t>
            </a:r>
          </a:p>
        </p:txBody>
      </p:sp>
      <p:sp>
        <p:nvSpPr>
          <p:cNvPr id="55" name="Shape 9">
            <a:extLst>
              <a:ext uri="{FF2B5EF4-FFF2-40B4-BE49-F238E27FC236}">
                <a16:creationId xmlns:a16="http://schemas.microsoft.com/office/drawing/2014/main" id="{0C73C79C-6975-79D2-A14D-13B534F731A4}"/>
              </a:ext>
            </a:extLst>
          </p:cNvPr>
          <p:cNvSpPr/>
          <p:nvPr/>
        </p:nvSpPr>
        <p:spPr>
          <a:xfrm>
            <a:off x="8485632" y="3127248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57" name="Text 10">
            <a:extLst>
              <a:ext uri="{FF2B5EF4-FFF2-40B4-BE49-F238E27FC236}">
                <a16:creationId xmlns:a16="http://schemas.microsoft.com/office/drawing/2014/main" id="{C6D92687-7F17-4AB4-58C6-A45D908BF2A2}"/>
              </a:ext>
            </a:extLst>
          </p:cNvPr>
          <p:cNvSpPr/>
          <p:nvPr/>
        </p:nvSpPr>
        <p:spPr>
          <a:xfrm>
            <a:off x="8650224" y="32186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59" name="Text 11">
            <a:extLst>
              <a:ext uri="{FF2B5EF4-FFF2-40B4-BE49-F238E27FC236}">
                <a16:creationId xmlns:a16="http://schemas.microsoft.com/office/drawing/2014/main" id="{8B4379B2-583C-C301-5A8D-3A567A5A1BFC}"/>
              </a:ext>
            </a:extLst>
          </p:cNvPr>
          <p:cNvSpPr/>
          <p:nvPr/>
        </p:nvSpPr>
        <p:spPr>
          <a:xfrm>
            <a:off x="8650224" y="347472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32.66% visit completion rate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highlights an operational improvement opportunity. </a:t>
            </a:r>
          </a:p>
        </p:txBody>
      </p:sp>
      <p:sp>
        <p:nvSpPr>
          <p:cNvPr id="61" name="Shape 12">
            <a:extLst>
              <a:ext uri="{FF2B5EF4-FFF2-40B4-BE49-F238E27FC236}">
                <a16:creationId xmlns:a16="http://schemas.microsoft.com/office/drawing/2014/main" id="{7AF64E2C-9D6D-52E6-8FC1-A6BBD516FE1C}"/>
              </a:ext>
            </a:extLst>
          </p:cNvPr>
          <p:cNvSpPr/>
          <p:nvPr/>
        </p:nvSpPr>
        <p:spPr>
          <a:xfrm>
            <a:off x="8485632" y="4334256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0BD1C62B-92A4-AFA4-10ED-36A49D5EAB1F}"/>
              </a:ext>
            </a:extLst>
          </p:cNvPr>
          <p:cNvSpPr/>
          <p:nvPr/>
        </p:nvSpPr>
        <p:spPr>
          <a:xfrm>
            <a:off x="8650224" y="44256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65" name="Text 14">
            <a:extLst>
              <a:ext uri="{FF2B5EF4-FFF2-40B4-BE49-F238E27FC236}">
                <a16:creationId xmlns:a16="http://schemas.microsoft.com/office/drawing/2014/main" id="{5E0FE525-11A2-06D4-0F67-91AED8004539}"/>
              </a:ext>
            </a:extLst>
          </p:cNvPr>
          <p:cNvSpPr/>
          <p:nvPr/>
        </p:nvSpPr>
        <p:spPr>
          <a:xfrm>
            <a:off x="8650224" y="46817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33.01% treatment success rate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indicates scope for improving treatment outcomes. </a:t>
            </a:r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B79066CE-06EC-32F6-E0F1-DD9F73FF2141}"/>
              </a:ext>
            </a:extLst>
          </p:cNvPr>
          <p:cNvSpPr/>
          <p:nvPr/>
        </p:nvSpPr>
        <p:spPr>
          <a:xfrm>
            <a:off x="8485632" y="5541264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CDA878A-7B30-98FB-EC7E-2585F83F5804}"/>
              </a:ext>
            </a:extLst>
          </p:cNvPr>
          <p:cNvSpPr/>
          <p:nvPr/>
        </p:nvSpPr>
        <p:spPr>
          <a:xfrm>
            <a:off x="8650224" y="563270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100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5A7FFE27-71A7-7884-B424-793C09D9C116}"/>
              </a:ext>
            </a:extLst>
          </p:cNvPr>
          <p:cNvSpPr/>
          <p:nvPr/>
        </p:nvSpPr>
        <p:spPr>
          <a:xfrm>
            <a:off x="8650224" y="588873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$25.41M revenue billed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shows strong overall financial activity. </a:t>
            </a:r>
          </a:p>
        </p:txBody>
      </p:sp>
      <p:sp>
        <p:nvSpPr>
          <p:cNvPr id="75" name="Text 19">
            <a:extLst>
              <a:ext uri="{FF2B5EF4-FFF2-40B4-BE49-F238E27FC236}">
                <a16:creationId xmlns:a16="http://schemas.microsoft.com/office/drawing/2014/main" id="{4B38DE87-30AA-02AA-9C6A-711784EC00DF}"/>
              </a:ext>
            </a:extLst>
          </p:cNvPr>
          <p:cNvSpPr/>
          <p:nvPr/>
        </p:nvSpPr>
        <p:spPr>
          <a:xfrm>
            <a:off x="1127729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F601C38-2E5B-E160-1639-25790E76C436}"/>
              </a:ext>
            </a:extLst>
          </p:cNvPr>
          <p:cNvSpPr txBox="1"/>
          <p:nvPr/>
        </p:nvSpPr>
        <p:spPr>
          <a:xfrm>
            <a:off x="235975" y="78614"/>
            <a:ext cx="609600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850" b="1" dirty="0">
                <a:solidFill>
                  <a:srgbClr val="008989"/>
                </a:solidFill>
                <a:latin typeface="Aptos"/>
              </a:rPr>
              <a:t>07  |  Dashboard 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F099EB-82BC-19A2-55A6-D30632C3B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6" y="1626471"/>
            <a:ext cx="8213074" cy="4600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92712"/>
            <a:ext cx="11064240" cy="20116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008989"/>
                </a:solidFill>
                <a:latin typeface="Aptos"/>
              </a:rPr>
              <a:t>08  |  DASHBOARD 2</a:t>
            </a:r>
          </a:p>
        </p:txBody>
      </p:sp>
      <p:sp>
        <p:nvSpPr>
          <p:cNvPr id="37" name="Text 0">
            <a:extLst>
              <a:ext uri="{FF2B5EF4-FFF2-40B4-BE49-F238E27FC236}">
                <a16:creationId xmlns:a16="http://schemas.microsoft.com/office/drawing/2014/main" id="{A000E9DE-F6D2-ADC3-938C-4A79F4A5F841}"/>
              </a:ext>
            </a:extLst>
          </p:cNvPr>
          <p:cNvSpPr/>
          <p:nvPr/>
        </p:nvSpPr>
        <p:spPr>
          <a:xfrm>
            <a:off x="457200" y="347472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2A4A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Patient Utilization &amp; Operational Performance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F29C9A9F-C0D5-0C73-99DC-D3D4B723C8B3}"/>
              </a:ext>
            </a:extLst>
          </p:cNvPr>
          <p:cNvSpPr/>
          <p:nvPr/>
        </p:nvSpPr>
        <p:spPr>
          <a:xfrm>
            <a:off x="457200" y="877824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healthcare demand concentrated, and how efficiently are resources being utilized?</a:t>
            </a:r>
            <a:endParaRPr lang="en-US" sz="1350" dirty="0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0FB717A9-9398-4568-794A-FA9B93223D92}"/>
              </a:ext>
            </a:extLst>
          </p:cNvPr>
          <p:cNvSpPr/>
          <p:nvPr/>
        </p:nvSpPr>
        <p:spPr>
          <a:xfrm>
            <a:off x="45720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 |  Data Analyst Portfolio  |  Group 6</a:t>
            </a:r>
            <a:endParaRPr lang="en-US" sz="900" dirty="0"/>
          </a:p>
        </p:txBody>
      </p:sp>
      <p:sp>
        <p:nvSpPr>
          <p:cNvPr id="71" name="Text 17">
            <a:extLst>
              <a:ext uri="{FF2B5EF4-FFF2-40B4-BE49-F238E27FC236}">
                <a16:creationId xmlns:a16="http://schemas.microsoft.com/office/drawing/2014/main" id="{BC217EE1-C7E0-6FB6-B3F2-CCB148738644}"/>
              </a:ext>
            </a:extLst>
          </p:cNvPr>
          <p:cNvSpPr/>
          <p:nvPr/>
        </p:nvSpPr>
        <p:spPr>
          <a:xfrm>
            <a:off x="1127729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5" name="Text 5">
            <a:extLst>
              <a:ext uri="{FF2B5EF4-FFF2-40B4-BE49-F238E27FC236}">
                <a16:creationId xmlns:a16="http://schemas.microsoft.com/office/drawing/2014/main" id="{6D236DB3-A533-6AD1-A136-BB46BD3C5886}"/>
              </a:ext>
            </a:extLst>
          </p:cNvPr>
          <p:cNvSpPr/>
          <p:nvPr/>
        </p:nvSpPr>
        <p:spPr>
          <a:xfrm>
            <a:off x="8638032" y="16154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View</a:t>
            </a:r>
            <a:endParaRPr lang="en-US" sz="1550" dirty="0"/>
          </a:p>
        </p:txBody>
      </p:sp>
      <p:sp>
        <p:nvSpPr>
          <p:cNvPr id="77" name="Shape 6">
            <a:extLst>
              <a:ext uri="{FF2B5EF4-FFF2-40B4-BE49-F238E27FC236}">
                <a16:creationId xmlns:a16="http://schemas.microsoft.com/office/drawing/2014/main" id="{B5AA51F3-1F9D-C006-F11F-1D2AC620E0B8}"/>
              </a:ext>
            </a:extLst>
          </p:cNvPr>
          <p:cNvSpPr/>
          <p:nvPr/>
        </p:nvSpPr>
        <p:spPr>
          <a:xfrm>
            <a:off x="8638032" y="2072640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A36FCF93-B054-1B19-E17B-8C4BFBD8836C}"/>
              </a:ext>
            </a:extLst>
          </p:cNvPr>
          <p:cNvSpPr/>
          <p:nvPr/>
        </p:nvSpPr>
        <p:spPr>
          <a:xfrm>
            <a:off x="8802624" y="216408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BC2F50E-A099-8EFC-CC15-009C37002094}"/>
              </a:ext>
            </a:extLst>
          </p:cNvPr>
          <p:cNvSpPr/>
          <p:nvPr/>
        </p:nvSpPr>
        <p:spPr>
          <a:xfrm>
            <a:off x="8802624" y="242011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80.35% chronic patient rate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indicates a high long-term care burden. </a:t>
            </a:r>
          </a:p>
        </p:txBody>
      </p:sp>
      <p:sp>
        <p:nvSpPr>
          <p:cNvPr id="83" name="Shape 9">
            <a:extLst>
              <a:ext uri="{FF2B5EF4-FFF2-40B4-BE49-F238E27FC236}">
                <a16:creationId xmlns:a16="http://schemas.microsoft.com/office/drawing/2014/main" id="{4A45CD9C-DA00-B546-2D93-19D96FC6EDE9}"/>
              </a:ext>
            </a:extLst>
          </p:cNvPr>
          <p:cNvSpPr/>
          <p:nvPr/>
        </p:nvSpPr>
        <p:spPr>
          <a:xfrm>
            <a:off x="8638032" y="3279648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85" name="Text 10">
            <a:extLst>
              <a:ext uri="{FF2B5EF4-FFF2-40B4-BE49-F238E27FC236}">
                <a16:creationId xmlns:a16="http://schemas.microsoft.com/office/drawing/2014/main" id="{18B072AF-4244-F453-4CB5-986993B3519A}"/>
              </a:ext>
            </a:extLst>
          </p:cNvPr>
          <p:cNvSpPr/>
          <p:nvPr/>
        </p:nvSpPr>
        <p:spPr>
          <a:xfrm>
            <a:off x="8802624" y="33710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87" name="Text 11">
            <a:extLst>
              <a:ext uri="{FF2B5EF4-FFF2-40B4-BE49-F238E27FC236}">
                <a16:creationId xmlns:a16="http://schemas.microsoft.com/office/drawing/2014/main" id="{ABA92A92-216A-62A2-6EB6-9EED0B045A11}"/>
              </a:ext>
            </a:extLst>
          </p:cNvPr>
          <p:cNvSpPr/>
          <p:nvPr/>
        </p:nvSpPr>
        <p:spPr>
          <a:xfrm>
            <a:off x="8802624" y="362712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Average patient age is 48.94 years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, showing a mature patient population. </a:t>
            </a:r>
          </a:p>
        </p:txBody>
      </p:sp>
      <p:sp>
        <p:nvSpPr>
          <p:cNvPr id="89" name="Shape 12">
            <a:extLst>
              <a:ext uri="{FF2B5EF4-FFF2-40B4-BE49-F238E27FC236}">
                <a16:creationId xmlns:a16="http://schemas.microsoft.com/office/drawing/2014/main" id="{1508AF56-D293-DC5A-3E60-7282BB277172}"/>
              </a:ext>
            </a:extLst>
          </p:cNvPr>
          <p:cNvSpPr/>
          <p:nvPr/>
        </p:nvSpPr>
        <p:spPr>
          <a:xfrm>
            <a:off x="8638032" y="4486656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91" name="Text 13">
            <a:extLst>
              <a:ext uri="{FF2B5EF4-FFF2-40B4-BE49-F238E27FC236}">
                <a16:creationId xmlns:a16="http://schemas.microsoft.com/office/drawing/2014/main" id="{267881BD-311C-D3CE-31FE-288122C134D1}"/>
              </a:ext>
            </a:extLst>
          </p:cNvPr>
          <p:cNvSpPr/>
          <p:nvPr/>
        </p:nvSpPr>
        <p:spPr>
          <a:xfrm>
            <a:off x="8802624" y="45780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93" name="Text 14">
            <a:extLst>
              <a:ext uri="{FF2B5EF4-FFF2-40B4-BE49-F238E27FC236}">
                <a16:creationId xmlns:a16="http://schemas.microsoft.com/office/drawing/2014/main" id="{7D8CB053-7382-5E37-EEA4-1497719A2AF3}"/>
              </a:ext>
            </a:extLst>
          </p:cNvPr>
          <p:cNvSpPr/>
          <p:nvPr/>
        </p:nvSpPr>
        <p:spPr>
          <a:xfrm>
            <a:off x="8802624" y="48341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Chronic conditions are concentrated around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Hypertension, Diabetes and Asthma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95" name="Shape 15">
            <a:extLst>
              <a:ext uri="{FF2B5EF4-FFF2-40B4-BE49-F238E27FC236}">
                <a16:creationId xmlns:a16="http://schemas.microsoft.com/office/drawing/2014/main" id="{C5F68696-F5F2-4A69-3CB5-045D1A68392A}"/>
              </a:ext>
            </a:extLst>
          </p:cNvPr>
          <p:cNvSpPr/>
          <p:nvPr/>
        </p:nvSpPr>
        <p:spPr>
          <a:xfrm>
            <a:off x="8638032" y="5693664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97" name="Text 16">
            <a:extLst>
              <a:ext uri="{FF2B5EF4-FFF2-40B4-BE49-F238E27FC236}">
                <a16:creationId xmlns:a16="http://schemas.microsoft.com/office/drawing/2014/main" id="{A2334442-8641-F8FA-406E-62C1257DC26E}"/>
              </a:ext>
            </a:extLst>
          </p:cNvPr>
          <p:cNvSpPr/>
          <p:nvPr/>
        </p:nvSpPr>
        <p:spPr>
          <a:xfrm>
            <a:off x="8802624" y="578510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100" dirty="0"/>
          </a:p>
        </p:txBody>
      </p:sp>
      <p:sp>
        <p:nvSpPr>
          <p:cNvPr id="99" name="Text 17">
            <a:extLst>
              <a:ext uri="{FF2B5EF4-FFF2-40B4-BE49-F238E27FC236}">
                <a16:creationId xmlns:a16="http://schemas.microsoft.com/office/drawing/2014/main" id="{ED36C683-F952-4B6F-7FE1-0B275BFA0312}"/>
              </a:ext>
            </a:extLst>
          </p:cNvPr>
          <p:cNvSpPr/>
          <p:nvPr/>
        </p:nvSpPr>
        <p:spPr>
          <a:xfrm>
            <a:off x="8802624" y="604113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Patient demographics and insurance coverage can support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targeted care planning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101" name="Text 19">
            <a:extLst>
              <a:ext uri="{FF2B5EF4-FFF2-40B4-BE49-F238E27FC236}">
                <a16:creationId xmlns:a16="http://schemas.microsoft.com/office/drawing/2014/main" id="{6E0691B5-54FD-153E-F87D-0D4F0B413C65}"/>
              </a:ext>
            </a:extLst>
          </p:cNvPr>
          <p:cNvSpPr/>
          <p:nvPr/>
        </p:nvSpPr>
        <p:spPr>
          <a:xfrm>
            <a:off x="11429695" y="66629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23D3E4-5762-AF19-05E2-905526E3C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16" y="1601234"/>
            <a:ext cx="8335424" cy="4645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000" b="1" dirty="0">
                <a:solidFill>
                  <a:srgbClr val="008989"/>
                </a:solidFill>
                <a:latin typeface="Aptos"/>
              </a:rPr>
              <a:t>09  |  DASHBOARD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tx2">
                    <a:lumMod val="75000"/>
                  </a:schemeClr>
                </a:solidFill>
                <a:latin typeface="Aptos"/>
              </a:rPr>
              <a:t>Clinical Operations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20287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5" name="Text 5">
            <a:extLst>
              <a:ext uri="{FF2B5EF4-FFF2-40B4-BE49-F238E27FC236}">
                <a16:creationId xmlns:a16="http://schemas.microsoft.com/office/drawing/2014/main" id="{B39A5746-E498-8C15-8AE9-3B59B34A1CFB}"/>
              </a:ext>
            </a:extLst>
          </p:cNvPr>
          <p:cNvSpPr/>
          <p:nvPr/>
        </p:nvSpPr>
        <p:spPr>
          <a:xfrm>
            <a:off x="8485632" y="14630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View</a:t>
            </a:r>
            <a:endParaRPr lang="en-US" sz="1550" dirty="0"/>
          </a:p>
        </p:txBody>
      </p:sp>
      <p:sp>
        <p:nvSpPr>
          <p:cNvPr id="117" name="Shape 6">
            <a:extLst>
              <a:ext uri="{FF2B5EF4-FFF2-40B4-BE49-F238E27FC236}">
                <a16:creationId xmlns:a16="http://schemas.microsoft.com/office/drawing/2014/main" id="{0E2D2F22-BD2F-CA08-7CBB-64559B08E98B}"/>
              </a:ext>
            </a:extLst>
          </p:cNvPr>
          <p:cNvSpPr/>
          <p:nvPr/>
        </p:nvSpPr>
        <p:spPr>
          <a:xfrm>
            <a:off x="8485632" y="1920240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119" name="Text 7">
            <a:extLst>
              <a:ext uri="{FF2B5EF4-FFF2-40B4-BE49-F238E27FC236}">
                <a16:creationId xmlns:a16="http://schemas.microsoft.com/office/drawing/2014/main" id="{141314D6-CB2A-DCDB-21AB-BA4DA01E3CF1}"/>
              </a:ext>
            </a:extLst>
          </p:cNvPr>
          <p:cNvSpPr/>
          <p:nvPr/>
        </p:nvSpPr>
        <p:spPr>
          <a:xfrm>
            <a:off x="8650224" y="201168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121" name="Text 8">
            <a:extLst>
              <a:ext uri="{FF2B5EF4-FFF2-40B4-BE49-F238E27FC236}">
                <a16:creationId xmlns:a16="http://schemas.microsoft.com/office/drawing/2014/main" id="{DDE5127B-0DEB-EA92-417D-0CA598707990}"/>
              </a:ext>
            </a:extLst>
          </p:cNvPr>
          <p:cNvSpPr/>
          <p:nvPr/>
        </p:nvSpPr>
        <p:spPr>
          <a:xfrm>
            <a:off x="8650224" y="226771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Visit completion and cancellation rates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are key operational efficiency signals. </a:t>
            </a:r>
          </a:p>
        </p:txBody>
      </p:sp>
      <p:sp>
        <p:nvSpPr>
          <p:cNvPr id="123" name="Shape 9">
            <a:extLst>
              <a:ext uri="{FF2B5EF4-FFF2-40B4-BE49-F238E27FC236}">
                <a16:creationId xmlns:a16="http://schemas.microsoft.com/office/drawing/2014/main" id="{0FD75501-E0FC-84B1-1FE3-CCB5A8CDAE4E}"/>
              </a:ext>
            </a:extLst>
          </p:cNvPr>
          <p:cNvSpPr/>
          <p:nvPr/>
        </p:nvSpPr>
        <p:spPr>
          <a:xfrm>
            <a:off x="8485632" y="3127248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125" name="Text 10">
            <a:extLst>
              <a:ext uri="{FF2B5EF4-FFF2-40B4-BE49-F238E27FC236}">
                <a16:creationId xmlns:a16="http://schemas.microsoft.com/office/drawing/2014/main" id="{F9DB5592-115D-D98F-7C2C-A66286534C72}"/>
              </a:ext>
            </a:extLst>
          </p:cNvPr>
          <p:cNvSpPr/>
          <p:nvPr/>
        </p:nvSpPr>
        <p:spPr>
          <a:xfrm>
            <a:off x="8650224" y="32186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127" name="Text 11">
            <a:extLst>
              <a:ext uri="{FF2B5EF4-FFF2-40B4-BE49-F238E27FC236}">
                <a16:creationId xmlns:a16="http://schemas.microsoft.com/office/drawing/2014/main" id="{C3E2F524-2135-F70E-CB05-AC3C7369E0D9}"/>
              </a:ext>
            </a:extLst>
          </p:cNvPr>
          <p:cNvSpPr/>
          <p:nvPr/>
        </p:nvSpPr>
        <p:spPr>
          <a:xfrm>
            <a:off x="8650224" y="347472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Follow-up cases require focused monitoring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for better care continuity. </a:t>
            </a:r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F943F019-3C4E-FD20-7507-0F03FF2C19E5}"/>
              </a:ext>
            </a:extLst>
          </p:cNvPr>
          <p:cNvSpPr/>
          <p:nvPr/>
        </p:nvSpPr>
        <p:spPr>
          <a:xfrm>
            <a:off x="8485632" y="4334256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131" name="Text 13">
            <a:extLst>
              <a:ext uri="{FF2B5EF4-FFF2-40B4-BE49-F238E27FC236}">
                <a16:creationId xmlns:a16="http://schemas.microsoft.com/office/drawing/2014/main" id="{C23D0150-7BD1-8B01-73CE-AF98BFFB33CA}"/>
              </a:ext>
            </a:extLst>
          </p:cNvPr>
          <p:cNvSpPr/>
          <p:nvPr/>
        </p:nvSpPr>
        <p:spPr>
          <a:xfrm>
            <a:off x="8650224" y="44256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133" name="Text 14">
            <a:extLst>
              <a:ext uri="{FF2B5EF4-FFF2-40B4-BE49-F238E27FC236}">
                <a16:creationId xmlns:a16="http://schemas.microsoft.com/office/drawing/2014/main" id="{C2DBE623-A6BF-9D5A-8594-B9B5A5F27ED7}"/>
              </a:ext>
            </a:extLst>
          </p:cNvPr>
          <p:cNvSpPr/>
          <p:nvPr/>
        </p:nvSpPr>
        <p:spPr>
          <a:xfrm>
            <a:off x="8650224" y="46817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Diagnosis volume helps identify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high-demand clinical conditions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135" name="Shape 15">
            <a:extLst>
              <a:ext uri="{FF2B5EF4-FFF2-40B4-BE49-F238E27FC236}">
                <a16:creationId xmlns:a16="http://schemas.microsoft.com/office/drawing/2014/main" id="{811DD701-AC39-BF2D-F174-971F0B3BD93E}"/>
              </a:ext>
            </a:extLst>
          </p:cNvPr>
          <p:cNvSpPr/>
          <p:nvPr/>
        </p:nvSpPr>
        <p:spPr>
          <a:xfrm>
            <a:off x="8485632" y="5541264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137" name="Text 16">
            <a:extLst>
              <a:ext uri="{FF2B5EF4-FFF2-40B4-BE49-F238E27FC236}">
                <a16:creationId xmlns:a16="http://schemas.microsoft.com/office/drawing/2014/main" id="{1B63F2FC-F879-8A11-055B-C3418BBD30F0}"/>
              </a:ext>
            </a:extLst>
          </p:cNvPr>
          <p:cNvSpPr/>
          <p:nvPr/>
        </p:nvSpPr>
        <p:spPr>
          <a:xfrm>
            <a:off x="8650224" y="563270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100" dirty="0"/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0554B9D0-3132-39D6-E714-D2BE6B2DD983}"/>
              </a:ext>
            </a:extLst>
          </p:cNvPr>
          <p:cNvSpPr/>
          <p:nvPr/>
        </p:nvSpPr>
        <p:spPr>
          <a:xfrm>
            <a:off x="8650224" y="588873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Doctor workload analysis supports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better staffing and capacity planning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141" name="Text 19">
            <a:extLst>
              <a:ext uri="{FF2B5EF4-FFF2-40B4-BE49-F238E27FC236}">
                <a16:creationId xmlns:a16="http://schemas.microsoft.com/office/drawing/2014/main" id="{9C04C7A8-19BB-F710-3322-10F44299D567}"/>
              </a:ext>
            </a:extLst>
          </p:cNvPr>
          <p:cNvSpPr/>
          <p:nvPr/>
        </p:nvSpPr>
        <p:spPr>
          <a:xfrm>
            <a:off x="1127729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651E02-66BC-97D0-5055-FC8D95A2B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16" y="1582639"/>
            <a:ext cx="8183024" cy="4589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7ED35-EF93-C497-8BD8-3D8E41D19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3CF5C2-52F1-9ADF-1002-A85E2F999688}"/>
              </a:ext>
            </a:extLst>
          </p:cNvPr>
          <p:cNvSpPr txBox="1"/>
          <p:nvPr/>
        </p:nvSpPr>
        <p:spPr>
          <a:xfrm>
            <a:off x="502920" y="182880"/>
            <a:ext cx="1106424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989"/>
                </a:solidFill>
                <a:latin typeface="Aptos"/>
              </a:rPr>
              <a:t>10  |  DASHBOARD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236280-D358-8A18-7755-3AE82C43B15C}"/>
              </a:ext>
            </a:extLst>
          </p:cNvPr>
          <p:cNvSpPr txBox="1"/>
          <p:nvPr/>
        </p:nvSpPr>
        <p:spPr>
          <a:xfrm>
            <a:off x="502920" y="457200"/>
            <a:ext cx="110642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0066AA"/>
                </a:solidFill>
                <a:latin typeface="Aptos"/>
              </a:rPr>
              <a:t>Doctor Performance Dashboard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1B245-E044-20A3-C011-4E1B60576FDC}"/>
              </a:ext>
            </a:extLst>
          </p:cNvPr>
          <p:cNvSpPr/>
          <p:nvPr/>
        </p:nvSpPr>
        <p:spPr>
          <a:xfrm>
            <a:off x="502920" y="1120287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6EC655-1AA8-86D7-4B4A-63219401FF9E}"/>
              </a:ext>
            </a:extLst>
          </p:cNvPr>
          <p:cNvSpPr/>
          <p:nvPr/>
        </p:nvSpPr>
        <p:spPr>
          <a:xfrm>
            <a:off x="8485632" y="1463040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View</a:t>
            </a:r>
            <a:endParaRPr lang="en-US" sz="155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B8FF62D-C78E-28F6-B193-5026E5C2D147}"/>
              </a:ext>
            </a:extLst>
          </p:cNvPr>
          <p:cNvSpPr/>
          <p:nvPr/>
        </p:nvSpPr>
        <p:spPr>
          <a:xfrm>
            <a:off x="8485632" y="1920240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B72412D5-1620-B987-4886-288C1303D123}"/>
              </a:ext>
            </a:extLst>
          </p:cNvPr>
          <p:cNvSpPr/>
          <p:nvPr/>
        </p:nvSpPr>
        <p:spPr>
          <a:xfrm>
            <a:off x="8650224" y="2011680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96A3C350-199C-8932-79C8-E421B8A5AEEB}"/>
              </a:ext>
            </a:extLst>
          </p:cNvPr>
          <p:cNvSpPr/>
          <p:nvPr/>
        </p:nvSpPr>
        <p:spPr>
          <a:xfrm>
            <a:off x="8650224" y="2267712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Doctor workload varies across specialties and departments. </a:t>
            </a:r>
          </a:p>
        </p:txBody>
      </p:sp>
      <p:sp>
        <p:nvSpPr>
          <p:cNvPr id="34" name="Shape 9">
            <a:extLst>
              <a:ext uri="{FF2B5EF4-FFF2-40B4-BE49-F238E27FC236}">
                <a16:creationId xmlns:a16="http://schemas.microsoft.com/office/drawing/2014/main" id="{DFAFEA5D-55B6-FCE3-A8E6-A0AE992DF2DA}"/>
              </a:ext>
            </a:extLst>
          </p:cNvPr>
          <p:cNvSpPr/>
          <p:nvPr/>
        </p:nvSpPr>
        <p:spPr>
          <a:xfrm>
            <a:off x="8485632" y="3127248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C51EC94A-4228-3746-51B6-EB86DE47B686}"/>
              </a:ext>
            </a:extLst>
          </p:cNvPr>
          <p:cNvSpPr/>
          <p:nvPr/>
        </p:nvSpPr>
        <p:spPr>
          <a:xfrm>
            <a:off x="8650224" y="3218688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0AD4A5A4-FD67-D384-9B3C-377E0B754C77}"/>
              </a:ext>
            </a:extLst>
          </p:cNvPr>
          <p:cNvSpPr/>
          <p:nvPr/>
        </p:nvSpPr>
        <p:spPr>
          <a:xfrm>
            <a:off x="8650224" y="3474720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Completion rate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helps identify operational performance gaps. </a:t>
            </a: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6EEDAB6C-BD8C-75A2-7362-A24EB2C1F441}"/>
              </a:ext>
            </a:extLst>
          </p:cNvPr>
          <p:cNvSpPr/>
          <p:nvPr/>
        </p:nvSpPr>
        <p:spPr>
          <a:xfrm>
            <a:off x="8485632" y="4334256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1238D75A-0A8C-FF51-C176-2BF6BC0E36D7}"/>
              </a:ext>
            </a:extLst>
          </p:cNvPr>
          <p:cNvSpPr/>
          <p:nvPr/>
        </p:nvSpPr>
        <p:spPr>
          <a:xfrm>
            <a:off x="8650224" y="4425696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44" name="Text 14">
            <a:extLst>
              <a:ext uri="{FF2B5EF4-FFF2-40B4-BE49-F238E27FC236}">
                <a16:creationId xmlns:a16="http://schemas.microsoft.com/office/drawing/2014/main" id="{0D13CEA4-6F14-A9EE-B656-F33B052E2D27}"/>
              </a:ext>
            </a:extLst>
          </p:cNvPr>
          <p:cNvSpPr/>
          <p:nvPr/>
        </p:nvSpPr>
        <p:spPr>
          <a:xfrm>
            <a:off x="8650224" y="4681728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Success rate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 highlights differences in clinical outcomes. </a:t>
            </a:r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5AEC24E8-9A1C-4E14-3002-5E557AC18A13}"/>
              </a:ext>
            </a:extLst>
          </p:cNvPr>
          <p:cNvSpPr/>
          <p:nvPr/>
        </p:nvSpPr>
        <p:spPr>
          <a:xfrm>
            <a:off x="8485632" y="5541264"/>
            <a:ext cx="3246120" cy="1042416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5"/>
            </a:solidFill>
            <a:prstDash val="solid"/>
          </a:ln>
          <a:effectLst>
            <a:outerShdw blurRad="88900" dist="38100" dir="5400000" algn="bl" rotWithShape="0">
              <a:srgbClr val="1B2A4A">
                <a:alpha val="16000"/>
              </a:srgbClr>
            </a:outerShdw>
          </a:effectLst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1A382CA6-D1B6-8EC9-EDE7-3558301B822D}"/>
              </a:ext>
            </a:extLst>
          </p:cNvPr>
          <p:cNvSpPr/>
          <p:nvPr/>
        </p:nvSpPr>
        <p:spPr>
          <a:xfrm>
            <a:off x="8650224" y="5632704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04</a:t>
            </a:r>
            <a:endParaRPr lang="en-US" sz="1100" dirty="0"/>
          </a:p>
        </p:txBody>
      </p:sp>
      <p:sp>
        <p:nvSpPr>
          <p:cNvPr id="50" name="Text 17">
            <a:extLst>
              <a:ext uri="{FF2B5EF4-FFF2-40B4-BE49-F238E27FC236}">
                <a16:creationId xmlns:a16="http://schemas.microsoft.com/office/drawing/2014/main" id="{B8872B3A-BF28-9EE2-321F-CFB9678F3683}"/>
              </a:ext>
            </a:extLst>
          </p:cNvPr>
          <p:cNvSpPr/>
          <p:nvPr/>
        </p:nvSpPr>
        <p:spPr>
          <a:xfrm>
            <a:off x="8650224" y="5888736"/>
            <a:ext cx="2916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Revenue contribution helps identify </a:t>
            </a:r>
            <a:r>
              <a:rPr lang="en-IN" sz="1200" b="1" dirty="0">
                <a:solidFill>
                  <a:schemeClr val="tx2">
                    <a:lumMod val="75000"/>
                  </a:schemeClr>
                </a:solidFill>
              </a:rPr>
              <a:t>high-value doctor performance</a:t>
            </a:r>
            <a:r>
              <a:rPr lang="en-IN" sz="1200" dirty="0">
                <a:solidFill>
                  <a:schemeClr val="tx2">
                    <a:lumMod val="75000"/>
                  </a:schemeClr>
                </a:solidFill>
              </a:rPr>
              <a:t>. </a:t>
            </a:r>
          </a:p>
        </p:txBody>
      </p:sp>
      <p:sp>
        <p:nvSpPr>
          <p:cNvPr id="52" name="Text 19">
            <a:extLst>
              <a:ext uri="{FF2B5EF4-FFF2-40B4-BE49-F238E27FC236}">
                <a16:creationId xmlns:a16="http://schemas.microsoft.com/office/drawing/2014/main" id="{97729ED7-76F5-A7D2-BCA2-BD95E3C942D5}"/>
              </a:ext>
            </a:extLst>
          </p:cNvPr>
          <p:cNvSpPr/>
          <p:nvPr/>
        </p:nvSpPr>
        <p:spPr>
          <a:xfrm>
            <a:off x="11277295" y="65105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0B750F-B943-618A-F6C9-E83768C22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1" y="1570036"/>
            <a:ext cx="8298979" cy="463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953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89"/>
                </a:solidFill>
                <a:latin typeface="Aptos"/>
              </a:rPr>
              <a:t>11  |  FROM DATA 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0066AA"/>
                </a:solidFill>
                <a:latin typeface="Aptos"/>
              </a:rPr>
              <a:t>What management can do with the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33271"/>
            <a:ext cx="1097280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687784"/>
                </a:solidFill>
                <a:latin typeface="Aptos"/>
              </a:rPr>
              <a:t>The value is not the chart itself — it is the decision the chart makes easier.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6" name="Rounded Rectangle 5"/>
          <p:cNvSpPr/>
          <p:nvPr/>
        </p:nvSpPr>
        <p:spPr>
          <a:xfrm>
            <a:off x="566928" y="181051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7" name="Rounded Rectangle 6"/>
          <p:cNvSpPr/>
          <p:nvPr/>
        </p:nvSpPr>
        <p:spPr>
          <a:xfrm>
            <a:off x="704088" y="194767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704088" y="1948804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1938528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DEMAND PLANNING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340864"/>
            <a:ext cx="312724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89"/>
                </a:solidFill>
                <a:latin typeface="Aptos"/>
              </a:rPr>
              <a:t>Migraine is the top diagnosis (2,039 visits).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1635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Use diagnosis + month concentration to plan capacity.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81051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3" name="Rounded Rectangle 12"/>
          <p:cNvSpPr/>
          <p:nvPr/>
        </p:nvSpPr>
        <p:spPr>
          <a:xfrm>
            <a:off x="4498848" y="194767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4498848" y="193897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989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47488" y="1938528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VISIT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340864"/>
            <a:ext cx="312724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8989"/>
                </a:solidFill>
                <a:latin typeface="Aptos"/>
              </a:rPr>
              <a:t>33.44% cancelled vs 32.66% completed.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281635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Review scheduling, reminders and slot allocation.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181051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Rounded Rectangle 18"/>
          <p:cNvSpPr/>
          <p:nvPr/>
        </p:nvSpPr>
        <p:spPr>
          <a:xfrm>
            <a:off x="8293608" y="194767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0" name="TextBox 19"/>
          <p:cNvSpPr txBox="1"/>
          <p:nvPr/>
        </p:nvSpPr>
        <p:spPr>
          <a:xfrm>
            <a:off x="8293608" y="1929140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42248" y="1938528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CHRONIC 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340864"/>
            <a:ext cx="3127248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89"/>
                </a:solidFill>
                <a:latin typeface="Aptos"/>
              </a:rPr>
              <a:t>80.35% of patients are marked chronic.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81635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Prioritize follow-up capacity and long-term care pathways.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7647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5" name="Rounded Rectangle 24"/>
          <p:cNvSpPr/>
          <p:nvPr/>
        </p:nvSpPr>
        <p:spPr>
          <a:xfrm>
            <a:off x="704088" y="391363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704088" y="390493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3904487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DIAGNOSTIC WORKLOAD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" y="4306824"/>
            <a:ext cx="312724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89"/>
                </a:solidFill>
                <a:latin typeface="Aptos"/>
              </a:rPr>
              <a:t>33.54% abnormal lab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478231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Monitor abnormal-result workflow and escalation.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61688" y="377647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Rounded Rectangle 30"/>
          <p:cNvSpPr/>
          <p:nvPr/>
        </p:nvSpPr>
        <p:spPr>
          <a:xfrm>
            <a:off x="4498848" y="391363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2" name="TextBox 31"/>
          <p:cNvSpPr txBox="1"/>
          <p:nvPr/>
        </p:nvSpPr>
        <p:spPr>
          <a:xfrm>
            <a:off x="4498848" y="390493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3904487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REVENUE CYCLE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17136" y="4306824"/>
            <a:ext cx="312724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8989"/>
                </a:solidFill>
                <a:latin typeface="Aptos"/>
              </a:rPr>
              <a:t>$7.06M outstanding.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478231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Prioritize collections and payment-status monitoring.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6448" y="3776472"/>
            <a:ext cx="3456432" cy="1600200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7" name="Rounded Rectangle 36"/>
          <p:cNvSpPr/>
          <p:nvPr/>
        </p:nvSpPr>
        <p:spPr>
          <a:xfrm>
            <a:off x="8293608" y="391363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8" name="TextBox 37"/>
          <p:cNvSpPr txBox="1"/>
          <p:nvPr/>
        </p:nvSpPr>
        <p:spPr>
          <a:xfrm>
            <a:off x="8293608" y="390493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989"/>
                </a:solidFill>
                <a:latin typeface="Aptos"/>
              </a:rP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3904487"/>
            <a:ext cx="25603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66AA"/>
                </a:solidFill>
                <a:latin typeface="Aptos"/>
              </a:rPr>
              <a:t>PAYER 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1896" y="4306824"/>
            <a:ext cx="3127248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008989"/>
                </a:solidFill>
                <a:latin typeface="Aptos"/>
              </a:rPr>
              <a:t>60.75% claim approval</a:t>
            </a:r>
            <a:r>
              <a:rPr lang="en-IN" sz="1400" b="1" dirty="0">
                <a:solidFill>
                  <a:srgbClr val="008989"/>
                </a:solidFill>
                <a:latin typeface="Aptos"/>
              </a:rPr>
              <a:t> rate</a:t>
            </a:r>
            <a:r>
              <a:rPr sz="1400" b="1" dirty="0">
                <a:solidFill>
                  <a:srgbClr val="008989"/>
                </a:solidFill>
                <a:latin typeface="Aptos"/>
              </a:rPr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1896" y="4782312"/>
            <a:ext cx="3127248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87784"/>
                </a:solidFill>
                <a:latin typeface="Aptos"/>
              </a:rPr>
              <a:t>Compare payer approval patterns and investigate friction.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25312"/>
            <a:ext cx="1097280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0AB00"/>
                </a:solidFill>
                <a:latin typeface="Aptos"/>
              </a:rPr>
              <a:t>Business impact lens: capacity • care pathways • diagnostic workflow • provider performance • revenue recovery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37392" y="6510528"/>
            <a:ext cx="50292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6877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106424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050" b="1" dirty="0">
                <a:solidFill>
                  <a:srgbClr val="008989"/>
                </a:solidFill>
                <a:latin typeface="Aptos"/>
              </a:rPr>
              <a:t>12  |  BUSINESS IMPACT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1106424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0066AA"/>
                </a:solidFill>
                <a:latin typeface="Aptos"/>
              </a:rPr>
              <a:t>From data to a defensible business story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18616"/>
            <a:ext cx="914400" cy="41148"/>
          </a:xfrm>
          <a:prstGeom prst="rect">
            <a:avLst/>
          </a:prstGeom>
          <a:solidFill>
            <a:srgbClr val="E0AB00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594360" y="1810512"/>
            <a:ext cx="3456432" cy="1389888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Rounded Rectangle 6"/>
          <p:cNvSpPr/>
          <p:nvPr/>
        </p:nvSpPr>
        <p:spPr>
          <a:xfrm>
            <a:off x="731520" y="194767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TextBox 7"/>
          <p:cNvSpPr txBox="1"/>
          <p:nvPr/>
        </p:nvSpPr>
        <p:spPr>
          <a:xfrm>
            <a:off x="721688" y="1948804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38528"/>
            <a:ext cx="24688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8989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13432"/>
            <a:ext cx="3108960" cy="86177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Healthcare data was spread across multiple areas, making it difficult </a:t>
            </a: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to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monitor </a:t>
            </a: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patients, clinical operations, treatments, doctors, labs and revenue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in one place.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10512"/>
            <a:ext cx="3456432" cy="1389888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526280" y="194767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516448" y="193897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938528"/>
            <a:ext cx="24688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989"/>
                </a:solidFill>
                <a:latin typeface="Aptos"/>
              </a:rPr>
              <a:t>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13432"/>
            <a:ext cx="3108960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Integrated and analysed healthcare data using </a:t>
            </a: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Excel, SQL, Power BI and Tableau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to build KPIs, dashboards and business-focused analysis.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47872"/>
            <a:ext cx="3456432" cy="1389888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Rounded Rectangle 16"/>
          <p:cNvSpPr/>
          <p:nvPr/>
        </p:nvSpPr>
        <p:spPr>
          <a:xfrm>
            <a:off x="731520" y="368503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8" name="TextBox 17"/>
          <p:cNvSpPr txBox="1"/>
          <p:nvPr/>
        </p:nvSpPr>
        <p:spPr>
          <a:xfrm>
            <a:off x="721688" y="367633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675887"/>
            <a:ext cx="24688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8989"/>
                </a:solidFill>
                <a:latin typeface="Aptos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050791"/>
            <a:ext cx="310896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10K Patients | 10K Visits | 1K Doctors | 10K Lab Tests | $25.41M Revenue | 32.66% Visit Completion | 33.01% Treatment Success.</a:t>
            </a:r>
            <a:endParaRPr lang="en-IN" sz="1200" dirty="0">
              <a:solidFill>
                <a:schemeClr val="accent5">
                  <a:lumMod val="7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389120" y="3547872"/>
            <a:ext cx="3456432" cy="1389888"/>
          </a:xfrm>
          <a:prstGeom prst="roundRect">
            <a:avLst/>
          </a:prstGeom>
          <a:solidFill>
            <a:srgbClr val="FFFFFF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2" name="Rounded Rectangle 21"/>
          <p:cNvSpPr/>
          <p:nvPr/>
        </p:nvSpPr>
        <p:spPr>
          <a:xfrm>
            <a:off x="4526280" y="3685032"/>
            <a:ext cx="411480" cy="256032"/>
          </a:xfrm>
          <a:prstGeom prst="roundRect">
            <a:avLst/>
          </a:prstGeom>
          <a:solidFill>
            <a:srgbClr val="E5F2F2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3" name="TextBox 22"/>
          <p:cNvSpPr txBox="1"/>
          <p:nvPr/>
        </p:nvSpPr>
        <p:spPr>
          <a:xfrm>
            <a:off x="4516448" y="3676332"/>
            <a:ext cx="411480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008989"/>
                </a:solidFill>
                <a:latin typeface="Aptos"/>
              </a:rPr>
              <a:t>04</a:t>
            </a:r>
            <a:endParaRPr sz="1000" b="1" dirty="0">
              <a:solidFill>
                <a:srgbClr val="008989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074920" y="3675887"/>
            <a:ext cx="246888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008989"/>
                </a:solidFill>
                <a:latin typeface="Aptos"/>
              </a:rPr>
              <a:t>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6448" y="3961586"/>
            <a:ext cx="345643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Converted raw healthcare data into </a:t>
            </a: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actionable insights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 that support better </a:t>
            </a:r>
            <a:r>
              <a:rPr lang="en-IN" sz="1200" b="1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clinical decisions, operational planning, treatment monitoring and revenue management</a:t>
            </a:r>
            <a:r>
              <a:rPr lang="en-IN" sz="1200" dirty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11312" y="1810512"/>
            <a:ext cx="3401568" cy="3035808"/>
          </a:xfrm>
          <a:prstGeom prst="roundRect">
            <a:avLst/>
          </a:prstGeom>
          <a:solidFill>
            <a:srgbClr val="0066AA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8" name="TextBox 27"/>
          <p:cNvSpPr txBox="1"/>
          <p:nvPr/>
        </p:nvSpPr>
        <p:spPr>
          <a:xfrm>
            <a:off x="8458200" y="1922885"/>
            <a:ext cx="2852928" cy="246221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100" b="1" dirty="0">
                <a:solidFill>
                  <a:schemeClr val="bg1"/>
                </a:solidFill>
              </a:rPr>
              <a:t>Improved Decision-Making:</a:t>
            </a:r>
            <a:r>
              <a:rPr lang="en-IN" sz="1100" dirty="0">
                <a:solidFill>
                  <a:schemeClr val="bg1"/>
                </a:solidFill>
              </a:rPr>
              <a:t> Management gets a single view of key healthcare KPIs.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100" b="1" dirty="0">
                <a:solidFill>
                  <a:schemeClr val="bg1"/>
                </a:solidFill>
              </a:rPr>
              <a:t>Operational Efficiency:</a:t>
            </a:r>
            <a:r>
              <a:rPr lang="en-IN" sz="1100" dirty="0">
                <a:solidFill>
                  <a:schemeClr val="bg1"/>
                </a:solidFill>
              </a:rPr>
              <a:t> Identified gaps in </a:t>
            </a:r>
            <a:r>
              <a:rPr lang="en-IN" sz="1100" b="1" dirty="0">
                <a:solidFill>
                  <a:schemeClr val="bg1"/>
                </a:solidFill>
              </a:rPr>
              <a:t>visit completion, follow-ups and doctor workload</a:t>
            </a:r>
            <a:r>
              <a:rPr lang="en-IN" sz="1100" dirty="0">
                <a:solidFill>
                  <a:schemeClr val="bg1"/>
                </a:solidFill>
              </a:rPr>
              <a:t>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100" b="1" dirty="0">
                <a:solidFill>
                  <a:schemeClr val="bg1"/>
                </a:solidFill>
              </a:rPr>
              <a:t>Better Clinical Monitoring:</a:t>
            </a:r>
            <a:r>
              <a:rPr lang="en-IN" sz="1100" dirty="0">
                <a:solidFill>
                  <a:schemeClr val="bg1"/>
                </a:solidFill>
              </a:rPr>
              <a:t> Treatment outcomes and abnormal lab patterns become easier to track.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100" b="1" dirty="0">
                <a:solidFill>
                  <a:schemeClr val="bg1"/>
                </a:solidFill>
              </a:rPr>
              <a:t>Revenue Visibility:</a:t>
            </a:r>
            <a:r>
              <a:rPr lang="en-IN" sz="1100" dirty="0">
                <a:solidFill>
                  <a:schemeClr val="bg1"/>
                </a:solidFill>
              </a:rPr>
              <a:t> Improved monitoring of </a:t>
            </a:r>
            <a:r>
              <a:rPr lang="en-IN" sz="1100" b="1" dirty="0">
                <a:solidFill>
                  <a:schemeClr val="bg1"/>
                </a:solidFill>
              </a:rPr>
              <a:t>billing, insurance claims and outstanding revenue</a:t>
            </a:r>
            <a:r>
              <a:rPr lang="en-IN" sz="1100" dirty="0">
                <a:solidFill>
                  <a:schemeClr val="bg1"/>
                </a:solidFill>
              </a:rPr>
              <a:t>. </a:t>
            </a:r>
          </a:p>
          <a:p>
            <a:pPr marL="171450" lvl="0" indent="-171450">
              <a:buFont typeface="Wingdings" panose="05000000000000000000" pitchFamily="2" charset="2"/>
              <a:buChar char="q"/>
            </a:pPr>
            <a:r>
              <a:rPr lang="en-IN" sz="1100" b="1" dirty="0">
                <a:solidFill>
                  <a:schemeClr val="bg1"/>
                </a:solidFill>
              </a:rPr>
              <a:t>Data-Driven Planning:</a:t>
            </a:r>
            <a:r>
              <a:rPr lang="en-IN" sz="1100" dirty="0">
                <a:solidFill>
                  <a:schemeClr val="bg1"/>
                </a:solidFill>
              </a:rPr>
              <a:t> Insights support better </a:t>
            </a:r>
            <a:r>
              <a:rPr lang="en-IN" sz="1100" b="1" dirty="0">
                <a:solidFill>
                  <a:schemeClr val="bg1"/>
                </a:solidFill>
              </a:rPr>
              <a:t>resource allocation, care planning and revenue management</a:t>
            </a:r>
            <a:r>
              <a:rPr lang="en-IN" sz="11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92495" y="4452440"/>
            <a:ext cx="2148840" cy="256032"/>
          </a:xfrm>
          <a:prstGeom prst="roundRect">
            <a:avLst/>
          </a:prstGeom>
          <a:solidFill>
            <a:srgbClr val="EFF6F6"/>
          </a:solidFill>
          <a:ln w="1016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0" name="TextBox 29"/>
          <p:cNvSpPr txBox="1"/>
          <p:nvPr/>
        </p:nvSpPr>
        <p:spPr>
          <a:xfrm>
            <a:off x="8772829" y="4453567"/>
            <a:ext cx="214884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dirty="0">
                <a:solidFill>
                  <a:srgbClr val="008989"/>
                </a:solidFill>
                <a:latin typeface="Aptos"/>
              </a:rPr>
              <a:t>BUSINESS </a:t>
            </a:r>
            <a:r>
              <a:rPr lang="en-IN" sz="1000" b="1" dirty="0">
                <a:solidFill>
                  <a:srgbClr val="008989"/>
                </a:solidFill>
                <a:latin typeface="Aptos"/>
              </a:rPr>
              <a:t>IMPACT</a:t>
            </a:r>
            <a:endParaRPr sz="1000" b="1" dirty="0">
              <a:solidFill>
                <a:srgbClr val="008989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1500" y="5148072"/>
            <a:ext cx="10927080" cy="64633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5">
                    <a:lumMod val="75000"/>
                  </a:schemeClr>
                </a:solidFill>
                <a:latin typeface="Aptos"/>
              </a:rPr>
              <a:t>Thank You</a:t>
            </a:r>
            <a:endParaRPr sz="3600" b="1" dirty="0">
              <a:solidFill>
                <a:schemeClr val="accent5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144768"/>
            <a:ext cx="1092708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AXON Healthcare Analytics  •  </a:t>
            </a:r>
            <a:r>
              <a:rPr lang="en-IN" sz="2000" b="0" dirty="0">
                <a:solidFill>
                  <a:schemeClr val="tx2">
                    <a:lumMod val="75000"/>
                  </a:schemeClr>
                </a:solidFill>
                <a:latin typeface="Aptos"/>
              </a:rPr>
              <a:t>AI Variant</a:t>
            </a:r>
            <a:endParaRPr sz="2000" b="0" dirty="0">
              <a:solidFill>
                <a:schemeClr val="tx2">
                  <a:lumMod val="75000"/>
                </a:schemeClr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137392" y="6510528"/>
            <a:ext cx="502920" cy="25391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sz="1050" b="1">
                <a:solidFill>
                  <a:srgbClr val="6877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1398</Words>
  <Application>Microsoft Office PowerPoint</Application>
  <PresentationFormat>Widescreen</PresentationFormat>
  <Paragraphs>280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Arial</vt:lpstr>
      <vt:lpstr>Calibri</vt:lpstr>
      <vt:lpstr>Cambria</vt:lpstr>
      <vt:lpstr>Candara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 | Shubham</cp:lastModifiedBy>
  <cp:revision>32</cp:revision>
  <dcterms:created xsi:type="dcterms:W3CDTF">2013-01-27T09:14:16Z</dcterms:created>
  <dcterms:modified xsi:type="dcterms:W3CDTF">2026-09-06T17:07:47Z</dcterms:modified>
  <cp:category/>
</cp:coreProperties>
</file>